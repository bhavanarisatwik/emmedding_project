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ooper Hewitt Bold" panose="020B0604020202020204" charset="0"/>
      <p:regular r:id="rId9"/>
    </p:embeddedFont>
    <p:embeddedFont>
      <p:font typeface="Inter" panose="020B0604020202020204" charset="0"/>
      <p:regular r:id="rId10"/>
    </p:embeddedFont>
    <p:embeddedFont>
      <p:font typeface="Inter Bold" panose="020B0604020202020204" charset="0"/>
      <p:regular r:id="rId11"/>
    </p:embeddedFont>
    <p:embeddedFont>
      <p:font typeface="Inter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3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jpeg"/><Relationship Id="rId7" Type="http://schemas.openxmlformats.org/officeDocument/2006/relationships/image" Target="../media/image5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3.png"/><Relationship Id="rId7" Type="http://schemas.openxmlformats.org/officeDocument/2006/relationships/image" Target="../media/image5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5.jpeg"/><Relationship Id="rId4" Type="http://schemas.openxmlformats.org/officeDocument/2006/relationships/image" Target="../media/image14.svg"/><Relationship Id="rId9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3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bhavanarisatwik.netlify.app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www.linkedin.com/in/satwikbhavanari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28525" y="6573455"/>
            <a:ext cx="3893630" cy="4114800"/>
          </a:xfrm>
          <a:custGeom>
            <a:avLst/>
            <a:gdLst/>
            <a:ahLst/>
            <a:cxnLst/>
            <a:rect l="l" t="t" r="r" b="b"/>
            <a:pathLst>
              <a:path w="3893630" h="411480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906175" y="244518"/>
            <a:ext cx="12557958" cy="11160885"/>
          </a:xfrm>
          <a:custGeom>
            <a:avLst/>
            <a:gdLst/>
            <a:ahLst/>
            <a:cxnLst/>
            <a:rect l="l" t="t" r="r" b="b"/>
            <a:pathLst>
              <a:path w="12557958" h="11160885">
                <a:moveTo>
                  <a:pt x="0" y="0"/>
                </a:moveTo>
                <a:lnTo>
                  <a:pt x="12557957" y="0"/>
                </a:lnTo>
                <a:lnTo>
                  <a:pt x="12557957" y="11160885"/>
                </a:lnTo>
                <a:lnTo>
                  <a:pt x="0" y="111608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1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325963" y="2387914"/>
            <a:ext cx="6492845" cy="6492845"/>
          </a:xfrm>
          <a:custGeom>
            <a:avLst/>
            <a:gdLst/>
            <a:ahLst/>
            <a:cxnLst/>
            <a:rect l="l" t="t" r="r" b="b"/>
            <a:pathLst>
              <a:path w="6492845" h="6492845">
                <a:moveTo>
                  <a:pt x="0" y="0"/>
                </a:moveTo>
                <a:lnTo>
                  <a:pt x="6492845" y="0"/>
                </a:lnTo>
                <a:lnTo>
                  <a:pt x="6492845" y="6492845"/>
                </a:lnTo>
                <a:lnTo>
                  <a:pt x="0" y="64928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92135" y="3124501"/>
            <a:ext cx="5914040" cy="2231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06"/>
              </a:lnSpc>
            </a:pPr>
            <a:r>
              <a:rPr lang="en-US" sz="13033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CYBER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2135" y="4911126"/>
            <a:ext cx="8333828" cy="223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06"/>
              </a:lnSpc>
            </a:pPr>
            <a:r>
              <a:rPr lang="en-US" sz="13033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RANGE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2135" y="7327988"/>
            <a:ext cx="6907358" cy="361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2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STAY AHEAD OF THREATS, STAY SECURE.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531143" y="2684515"/>
            <a:ext cx="8365137" cy="5388317"/>
            <a:chOff x="0" y="0"/>
            <a:chExt cx="737305" cy="4749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7305" cy="474927"/>
            </a:xfrm>
            <a:custGeom>
              <a:avLst/>
              <a:gdLst/>
              <a:ahLst/>
              <a:cxnLst/>
              <a:rect l="l" t="t" r="r" b="b"/>
              <a:pathLst>
                <a:path w="737305" h="474927">
                  <a:moveTo>
                    <a:pt x="534105" y="0"/>
                  </a:moveTo>
                  <a:lnTo>
                    <a:pt x="203200" y="0"/>
                  </a:lnTo>
                  <a:lnTo>
                    <a:pt x="0" y="237464"/>
                  </a:lnTo>
                  <a:lnTo>
                    <a:pt x="203200" y="474927"/>
                  </a:lnTo>
                  <a:lnTo>
                    <a:pt x="534105" y="474927"/>
                  </a:lnTo>
                  <a:lnTo>
                    <a:pt x="737305" y="237464"/>
                  </a:lnTo>
                  <a:lnTo>
                    <a:pt x="534105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52400" y="-47625"/>
              <a:ext cx="432505" cy="522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24781" y="2926447"/>
            <a:ext cx="8387448" cy="5388317"/>
            <a:chOff x="0" y="0"/>
            <a:chExt cx="730932" cy="4695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0932" cy="469570"/>
            </a:xfrm>
            <a:custGeom>
              <a:avLst/>
              <a:gdLst/>
              <a:ahLst/>
              <a:cxnLst/>
              <a:rect l="l" t="t" r="r" b="b"/>
              <a:pathLst>
                <a:path w="730932" h="469570">
                  <a:moveTo>
                    <a:pt x="527732" y="0"/>
                  </a:moveTo>
                  <a:lnTo>
                    <a:pt x="203200" y="0"/>
                  </a:lnTo>
                  <a:lnTo>
                    <a:pt x="0" y="234785"/>
                  </a:lnTo>
                  <a:lnTo>
                    <a:pt x="203200" y="469570"/>
                  </a:lnTo>
                  <a:lnTo>
                    <a:pt x="527732" y="469570"/>
                  </a:lnTo>
                  <a:lnTo>
                    <a:pt x="730932" y="234785"/>
                  </a:lnTo>
                  <a:lnTo>
                    <a:pt x="527732" y="0"/>
                  </a:lnTo>
                  <a:close/>
                </a:path>
              </a:pathLst>
            </a:custGeom>
            <a:blipFill>
              <a:blip r:embed="rId3"/>
              <a:stretch>
                <a:fillRect l="-14242" r="-1424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760774" y="8521940"/>
            <a:ext cx="2631660" cy="680027"/>
            <a:chOff x="0" y="0"/>
            <a:chExt cx="1572741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72741" cy="406400"/>
            </a:xfrm>
            <a:custGeom>
              <a:avLst/>
              <a:gdLst/>
              <a:ahLst/>
              <a:cxnLst/>
              <a:rect l="l" t="t" r="r" b="b"/>
              <a:pathLst>
                <a:path w="1572741" h="406400">
                  <a:moveTo>
                    <a:pt x="1369541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69541" y="406400"/>
                  </a:lnTo>
                  <a:lnTo>
                    <a:pt x="1572741" y="203200"/>
                  </a:lnTo>
                  <a:lnTo>
                    <a:pt x="1369541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52400" y="-47625"/>
              <a:ext cx="1267941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60774" y="4616913"/>
            <a:ext cx="6548735" cy="358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2300" b="1">
                <a:solidFill>
                  <a:srgbClr val="F3B136"/>
                </a:solidFill>
                <a:latin typeface="Inter Bold"/>
                <a:ea typeface="Inter Bold"/>
                <a:cs typeface="Inter Bold"/>
                <a:sym typeface="Inter Bold"/>
              </a:rPr>
              <a:t>Cyber Range</a:t>
            </a: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is a controlled and secure virtual environment designed to replicate real-world cybersecurity scenarios, enabling advanced training, research, and development. Similar to how a shooting range is used to enhance marksmanship, a cyber range provides a safe, realistic setting for developing and refining cybersecurity skills and response strategies.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25302" y="8663533"/>
            <a:ext cx="2102604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LEARN MORE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28525" y="6573455"/>
            <a:ext cx="3893630" cy="4114800"/>
          </a:xfrm>
          <a:custGeom>
            <a:avLst/>
            <a:gdLst/>
            <a:ahLst/>
            <a:cxnLst/>
            <a:rect l="l" t="t" r="r" b="b"/>
            <a:pathLst>
              <a:path w="3893630" h="411480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760774" y="2312085"/>
            <a:ext cx="5973791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ABOUT CYBER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60774" y="3302050"/>
            <a:ext cx="4520727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RANGES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59867" y="6929184"/>
            <a:ext cx="2693471" cy="42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7"/>
              </a:lnSpc>
            </a:pPr>
            <a:r>
              <a:rPr lang="en-US" sz="224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01   SAFETY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804137" y="3484755"/>
            <a:ext cx="4082579" cy="2806353"/>
            <a:chOff x="0" y="0"/>
            <a:chExt cx="737305" cy="5068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7305" cy="506821"/>
            </a:xfrm>
            <a:custGeom>
              <a:avLst/>
              <a:gdLst/>
              <a:ahLst/>
              <a:cxnLst/>
              <a:rect l="l" t="t" r="r" b="b"/>
              <a:pathLst>
                <a:path w="737305" h="506821">
                  <a:moveTo>
                    <a:pt x="534105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534105" y="506821"/>
                  </a:lnTo>
                  <a:lnTo>
                    <a:pt x="737305" y="253411"/>
                  </a:lnTo>
                  <a:lnTo>
                    <a:pt x="534105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52400" y="-47625"/>
              <a:ext cx="432505" cy="554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49880" y="3484755"/>
            <a:ext cx="4082579" cy="2806353"/>
            <a:chOff x="0" y="0"/>
            <a:chExt cx="737305" cy="5068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7305" cy="506821"/>
            </a:xfrm>
            <a:custGeom>
              <a:avLst/>
              <a:gdLst/>
              <a:ahLst/>
              <a:cxnLst/>
              <a:rect l="l" t="t" r="r" b="b"/>
              <a:pathLst>
                <a:path w="737305" h="506821">
                  <a:moveTo>
                    <a:pt x="534105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534105" y="506821"/>
                  </a:lnTo>
                  <a:lnTo>
                    <a:pt x="737305" y="253411"/>
                  </a:lnTo>
                  <a:lnTo>
                    <a:pt x="534105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52400" y="-47625"/>
              <a:ext cx="432505" cy="554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96952" y="3484755"/>
            <a:ext cx="4082579" cy="2806353"/>
            <a:chOff x="0" y="0"/>
            <a:chExt cx="737305" cy="5068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7305" cy="506821"/>
            </a:xfrm>
            <a:custGeom>
              <a:avLst/>
              <a:gdLst/>
              <a:ahLst/>
              <a:cxnLst/>
              <a:rect l="l" t="t" r="r" b="b"/>
              <a:pathLst>
                <a:path w="737305" h="506821">
                  <a:moveTo>
                    <a:pt x="534105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534105" y="506821"/>
                  </a:lnTo>
                  <a:lnTo>
                    <a:pt x="737305" y="253411"/>
                  </a:lnTo>
                  <a:lnTo>
                    <a:pt x="534105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52400" y="-47625"/>
              <a:ext cx="432505" cy="554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98641" y="3610759"/>
            <a:ext cx="4093468" cy="2806353"/>
            <a:chOff x="0" y="0"/>
            <a:chExt cx="730932" cy="5011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0932" cy="501104"/>
            </a:xfrm>
            <a:custGeom>
              <a:avLst/>
              <a:gdLst/>
              <a:ahLst/>
              <a:cxnLst/>
              <a:rect l="l" t="t" r="r" b="b"/>
              <a:pathLst>
                <a:path w="730932" h="501104">
                  <a:moveTo>
                    <a:pt x="527732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527732" y="501104"/>
                  </a:lnTo>
                  <a:lnTo>
                    <a:pt x="730932" y="250552"/>
                  </a:lnTo>
                  <a:lnTo>
                    <a:pt x="527732" y="0"/>
                  </a:lnTo>
                  <a:close/>
                </a:path>
              </a:pathLst>
            </a:custGeom>
            <a:blipFill>
              <a:blip r:embed="rId3"/>
              <a:stretch>
                <a:fillRect l="-1417" r="-1417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7044385" y="3610759"/>
            <a:ext cx="4093468" cy="2806353"/>
            <a:chOff x="0" y="0"/>
            <a:chExt cx="730932" cy="5011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0932" cy="501104"/>
            </a:xfrm>
            <a:custGeom>
              <a:avLst/>
              <a:gdLst/>
              <a:ahLst/>
              <a:cxnLst/>
              <a:rect l="l" t="t" r="r" b="b"/>
              <a:pathLst>
                <a:path w="730932" h="501104">
                  <a:moveTo>
                    <a:pt x="527732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527732" y="501104"/>
                  </a:lnTo>
                  <a:lnTo>
                    <a:pt x="730932" y="250552"/>
                  </a:lnTo>
                  <a:lnTo>
                    <a:pt x="527732" y="0"/>
                  </a:lnTo>
                  <a:close/>
                </a:path>
              </a:pathLst>
            </a:custGeom>
            <a:blipFill>
              <a:blip r:embed="rId4"/>
              <a:stretch>
                <a:fillRect l="-1546" r="-1546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2191456" y="3610759"/>
            <a:ext cx="4093468" cy="2806353"/>
            <a:chOff x="0" y="0"/>
            <a:chExt cx="730932" cy="5011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30932" cy="501104"/>
            </a:xfrm>
            <a:custGeom>
              <a:avLst/>
              <a:gdLst/>
              <a:ahLst/>
              <a:cxnLst/>
              <a:rect l="l" t="t" r="r" b="b"/>
              <a:pathLst>
                <a:path w="730932" h="501104">
                  <a:moveTo>
                    <a:pt x="527732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527732" y="501104"/>
                  </a:lnTo>
                  <a:lnTo>
                    <a:pt x="730932" y="250552"/>
                  </a:lnTo>
                  <a:lnTo>
                    <a:pt x="527732" y="0"/>
                  </a:lnTo>
                  <a:close/>
                </a:path>
              </a:pathLst>
            </a:custGeom>
            <a:blipFill>
              <a:blip r:embed="rId5"/>
              <a:stretch>
                <a:fillRect l="-1385" r="-1385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2606750" y="7586275"/>
            <a:ext cx="2773627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 simulation of high-risk cyberattacks</a:t>
            </a:r>
          </a:p>
        </p:txBody>
      </p:sp>
      <p:sp>
        <p:nvSpPr>
          <p:cNvPr id="20" name="Freeform 20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-328525" y="6573455"/>
            <a:ext cx="3893630" cy="4114800"/>
          </a:xfrm>
          <a:custGeom>
            <a:avLst/>
            <a:gdLst/>
            <a:ahLst/>
            <a:cxnLst/>
            <a:rect l="l" t="t" r="r" b="b"/>
            <a:pathLst>
              <a:path w="3893630" h="411480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196187" y="1313349"/>
            <a:ext cx="1969067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65254" y="1313349"/>
            <a:ext cx="6120680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CYBER RANGES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33745" y="6929184"/>
            <a:ext cx="2693471" cy="428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7"/>
              </a:lnSpc>
            </a:pPr>
            <a:r>
              <a:rPr lang="en-US" sz="224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02  TRAIN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27935" y="6852508"/>
            <a:ext cx="2693471" cy="428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7"/>
              </a:lnSpc>
            </a:pPr>
            <a:r>
              <a:rPr lang="en-US" sz="224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03  ENVIRONMENTS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80628" y="7586275"/>
            <a:ext cx="2773627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Realistic hands-on training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74819" y="7586275"/>
            <a:ext cx="2773627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Scenario-based learning for SOC teams, penetration testers, and analysts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59038" y="5354288"/>
            <a:ext cx="3726409" cy="3634801"/>
          </a:xfrm>
          <a:custGeom>
            <a:avLst/>
            <a:gdLst/>
            <a:ahLst/>
            <a:cxnLst/>
            <a:rect l="l" t="t" r="r" b="b"/>
            <a:pathLst>
              <a:path w="3726409" h="3634801">
                <a:moveTo>
                  <a:pt x="0" y="0"/>
                </a:moveTo>
                <a:lnTo>
                  <a:pt x="3726409" y="0"/>
                </a:lnTo>
                <a:lnTo>
                  <a:pt x="3726409" y="3634801"/>
                </a:lnTo>
                <a:lnTo>
                  <a:pt x="0" y="36348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05553" y="6069086"/>
            <a:ext cx="4932770" cy="358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Technical Layers:</a:t>
            </a:r>
          </a:p>
          <a:p>
            <a:pPr algn="l">
              <a:lnSpc>
                <a:spcPts val="3220"/>
              </a:lnSpc>
            </a:pPr>
            <a:endParaRPr lang="en-US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Virtual machines, routers, firewalls (virtualized)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Threat simulation tools (e.g., Metasploit, Cuckoo)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Real-time performance metrics and logs</a:t>
            </a:r>
          </a:p>
          <a:p>
            <a:pPr algn="l">
              <a:lnSpc>
                <a:spcPts val="3220"/>
              </a:lnSpc>
            </a:pPr>
            <a:endParaRPr lang="en-US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618290" y="2365409"/>
            <a:ext cx="8173936" cy="3336111"/>
            <a:chOff x="0" y="0"/>
            <a:chExt cx="1241782" cy="5068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1782" cy="506821"/>
            </a:xfrm>
            <a:custGeom>
              <a:avLst/>
              <a:gdLst/>
              <a:ahLst/>
              <a:cxnLst/>
              <a:rect l="l" t="t" r="r" b="b"/>
              <a:pathLst>
                <a:path w="1241782" h="506821">
                  <a:moveTo>
                    <a:pt x="1038582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1038582" y="506821"/>
                  </a:lnTo>
                  <a:lnTo>
                    <a:pt x="1241782" y="253411"/>
                  </a:lnTo>
                  <a:lnTo>
                    <a:pt x="1038582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52400" y="-47625"/>
              <a:ext cx="936982" cy="554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07502" y="2515199"/>
            <a:ext cx="8195737" cy="3336111"/>
            <a:chOff x="0" y="0"/>
            <a:chExt cx="1231050" cy="5011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1050" cy="501104"/>
            </a:xfrm>
            <a:custGeom>
              <a:avLst/>
              <a:gdLst/>
              <a:ahLst/>
              <a:cxnLst/>
              <a:rect l="l" t="t" r="r" b="b"/>
              <a:pathLst>
                <a:path w="1231050" h="501104">
                  <a:moveTo>
                    <a:pt x="1027850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1027850" y="501104"/>
                  </a:lnTo>
                  <a:lnTo>
                    <a:pt x="1231050" y="250552"/>
                  </a:lnTo>
                  <a:lnTo>
                    <a:pt x="1027850" y="0"/>
                  </a:lnTo>
                  <a:close/>
                </a:path>
              </a:pathLst>
            </a:custGeom>
            <a:blipFill>
              <a:blip r:embed="rId5"/>
              <a:stretch>
                <a:fillRect t="-13779" b="-12534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28525" y="6573455"/>
            <a:ext cx="3893630" cy="4114800"/>
          </a:xfrm>
          <a:custGeom>
            <a:avLst/>
            <a:gdLst/>
            <a:ahLst/>
            <a:cxnLst/>
            <a:rect l="l" t="t" r="r" b="b"/>
            <a:pathLst>
              <a:path w="3893630" h="411480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651829" y="2369241"/>
            <a:ext cx="6388953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CYBER RANGES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51829" y="3359206"/>
            <a:ext cx="7301743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HOW THEY WORK?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59560" y="6069086"/>
            <a:ext cx="4943270" cy="3989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Types:</a:t>
            </a:r>
          </a:p>
          <a:p>
            <a:pPr algn="l">
              <a:lnSpc>
                <a:spcPts val="3220"/>
              </a:lnSpc>
            </a:pPr>
            <a:endParaRPr lang="en-US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Static (predefined scenarios)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Dynamic (adaptive or AI-generated scenarios)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Cloud-based (hosted on cloud platforms for scalability)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Hybrid (combination of physical and virtual infrastructure)</a:t>
            </a:r>
          </a:p>
          <a:p>
            <a:pPr algn="l">
              <a:lnSpc>
                <a:spcPts val="3220"/>
              </a:lnSpc>
            </a:pPr>
            <a:endParaRPr lang="en-US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60774" y="5143500"/>
            <a:ext cx="5470303" cy="3336111"/>
            <a:chOff x="0" y="0"/>
            <a:chExt cx="831047" cy="5068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31047" cy="506821"/>
            </a:xfrm>
            <a:custGeom>
              <a:avLst/>
              <a:gdLst/>
              <a:ahLst/>
              <a:cxnLst/>
              <a:rect l="l" t="t" r="r" b="b"/>
              <a:pathLst>
                <a:path w="831047" h="506821">
                  <a:moveTo>
                    <a:pt x="627847" y="0"/>
                  </a:moveTo>
                  <a:lnTo>
                    <a:pt x="203200" y="0"/>
                  </a:lnTo>
                  <a:lnTo>
                    <a:pt x="0" y="253411"/>
                  </a:lnTo>
                  <a:lnTo>
                    <a:pt x="203200" y="506821"/>
                  </a:lnTo>
                  <a:lnTo>
                    <a:pt x="627847" y="506821"/>
                  </a:lnTo>
                  <a:lnTo>
                    <a:pt x="831047" y="253411"/>
                  </a:lnTo>
                  <a:lnTo>
                    <a:pt x="627847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52400" y="-47625"/>
              <a:ext cx="526247" cy="554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87401" y="5293290"/>
            <a:ext cx="5484894" cy="3336111"/>
            <a:chOff x="0" y="0"/>
            <a:chExt cx="823865" cy="5011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3865" cy="501104"/>
            </a:xfrm>
            <a:custGeom>
              <a:avLst/>
              <a:gdLst/>
              <a:ahLst/>
              <a:cxnLst/>
              <a:rect l="l" t="t" r="r" b="b"/>
              <a:pathLst>
                <a:path w="823865" h="501104">
                  <a:moveTo>
                    <a:pt x="620665" y="0"/>
                  </a:moveTo>
                  <a:lnTo>
                    <a:pt x="203200" y="0"/>
                  </a:lnTo>
                  <a:lnTo>
                    <a:pt x="0" y="250552"/>
                  </a:lnTo>
                  <a:lnTo>
                    <a:pt x="203200" y="501104"/>
                  </a:lnTo>
                  <a:lnTo>
                    <a:pt x="620665" y="501104"/>
                  </a:lnTo>
                  <a:lnTo>
                    <a:pt x="823865" y="250552"/>
                  </a:lnTo>
                  <a:lnTo>
                    <a:pt x="620665" y="0"/>
                  </a:lnTo>
                  <a:close/>
                </a:path>
              </a:pathLst>
            </a:custGeom>
            <a:blipFill>
              <a:blip r:embed="rId3"/>
              <a:stretch>
                <a:fillRect l="-10823" r="-1082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28525" y="6573455"/>
            <a:ext cx="3893630" cy="4114800"/>
          </a:xfrm>
          <a:custGeom>
            <a:avLst/>
            <a:gdLst/>
            <a:ahLst/>
            <a:cxnLst/>
            <a:rect l="l" t="t" r="r" b="b"/>
            <a:pathLst>
              <a:path w="3893630" h="411480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60774" y="2189005"/>
            <a:ext cx="5386730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LIMITATIONS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60774" y="3302795"/>
            <a:ext cx="5386730" cy="103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3000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OF TRADITIONAL CYBER RANGES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2063" y="2791968"/>
            <a:ext cx="5747748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Focuses only on Red or Blue teams not both limiting holistic, adversarial understanding.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2063" y="5095875"/>
            <a:ext cx="5747748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Learners receive delayed insights, reducing engagement and slowing skill development.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2063" y="1989208"/>
            <a:ext cx="4439018" cy="42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24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01  ONE-DIRECTIONAL TRAINING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2063" y="4324223"/>
            <a:ext cx="3894006" cy="42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24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02  NO REAL-TIME FEEDBACK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62063" y="6618605"/>
            <a:ext cx="5611495" cy="42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24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03  LACK OF TEAM COLLABORATION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2063" y="7417753"/>
            <a:ext cx="5747748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Minimal interaction between roles (Red, Blue, Purple), making it unrealistic for real-world SOC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16664" y="8918286"/>
            <a:ext cx="2631660" cy="680027"/>
            <a:chOff x="0" y="0"/>
            <a:chExt cx="1572741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72741" cy="406400"/>
            </a:xfrm>
            <a:custGeom>
              <a:avLst/>
              <a:gdLst/>
              <a:ahLst/>
              <a:cxnLst/>
              <a:rect l="l" t="t" r="r" b="b"/>
              <a:pathLst>
                <a:path w="1572741" h="406400">
                  <a:moveTo>
                    <a:pt x="1369541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69541" y="406400"/>
                  </a:lnTo>
                  <a:lnTo>
                    <a:pt x="1572741" y="203200"/>
                  </a:lnTo>
                  <a:lnTo>
                    <a:pt x="1369541" y="0"/>
                  </a:lnTo>
                  <a:close/>
                </a:path>
              </a:pathLst>
            </a:custGeom>
            <a:solidFill>
              <a:srgbClr val="A429A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52400" y="-47625"/>
              <a:ext cx="1267941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4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132013" y="2830264"/>
            <a:ext cx="6896954" cy="4865487"/>
          </a:xfrm>
          <a:custGeom>
            <a:avLst/>
            <a:gdLst/>
            <a:ahLst/>
            <a:cxnLst/>
            <a:rect l="l" t="t" r="r" b="b"/>
            <a:pathLst>
              <a:path w="6896954" h="4865487">
                <a:moveTo>
                  <a:pt x="0" y="0"/>
                </a:moveTo>
                <a:lnTo>
                  <a:pt x="6896954" y="0"/>
                </a:lnTo>
                <a:lnTo>
                  <a:pt x="6896954" y="4865487"/>
                </a:lnTo>
                <a:lnTo>
                  <a:pt x="0" y="48654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616664" y="2193413"/>
            <a:ext cx="6388953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SUMMARY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16664" y="3194627"/>
            <a:ext cx="6388953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5"/>
              </a:lnSpc>
            </a:pPr>
            <a:r>
              <a:rPr lang="en-US" sz="6500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27199" y="4479867"/>
            <a:ext cx="5642251" cy="3989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FFC100"/>
                </a:solidFill>
                <a:latin typeface="Inter Bold"/>
                <a:ea typeface="Inter Bold"/>
                <a:cs typeface="Inter Bold"/>
                <a:sym typeface="Inter Bold"/>
              </a:rPr>
              <a:t>Cyber Ranges</a:t>
            </a: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are simulated training environments that empower cybersecurity teams to build real-world skills in a risk-free setting.</a:t>
            </a:r>
          </a:p>
          <a:p>
            <a:pPr algn="l">
              <a:lnSpc>
                <a:spcPts val="3220"/>
              </a:lnSpc>
            </a:pPr>
            <a:endParaRPr lang="en-US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They help organizations strengthen their cyber defenses by providing hands-on experience in detecting, responding to, and recovering from sophisticated attacks.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28525" y="6573455"/>
            <a:ext cx="3893630" cy="4114800"/>
          </a:xfrm>
          <a:custGeom>
            <a:avLst/>
            <a:gdLst/>
            <a:ahLst/>
            <a:cxnLst/>
            <a:rect l="l" t="t" r="r" b="b"/>
            <a:pathLst>
              <a:path w="3893630" h="411480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02065" y="4031109"/>
            <a:ext cx="6619814" cy="2231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06"/>
              </a:lnSpc>
            </a:pPr>
            <a:r>
              <a:rPr lang="en-US" sz="13033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72807" y="4031109"/>
            <a:ext cx="4721925" cy="2231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06"/>
              </a:lnSpc>
            </a:pPr>
            <a:r>
              <a:rPr lang="en-US" sz="13033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YOU</a:t>
            </a:r>
          </a:p>
        </p:txBody>
      </p:sp>
      <p:sp>
        <p:nvSpPr>
          <p:cNvPr id="5" name="Freeform 5"/>
          <p:cNvSpPr/>
          <p:nvPr/>
        </p:nvSpPr>
        <p:spPr>
          <a:xfrm>
            <a:off x="14426763" y="696025"/>
            <a:ext cx="2832537" cy="558246"/>
          </a:xfrm>
          <a:custGeom>
            <a:avLst/>
            <a:gdLst/>
            <a:ahLst/>
            <a:cxnLst/>
            <a:rect l="l" t="t" r="r" b="b"/>
            <a:pathLst>
              <a:path w="2832537" h="558246">
                <a:moveTo>
                  <a:pt x="0" y="0"/>
                </a:moveTo>
                <a:lnTo>
                  <a:pt x="2832537" y="0"/>
                </a:lnTo>
                <a:lnTo>
                  <a:pt x="2832537" y="558245"/>
                </a:lnTo>
                <a:lnTo>
                  <a:pt x="0" y="558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28525" y="6573455"/>
            <a:ext cx="3893630" cy="4114800"/>
          </a:xfrm>
          <a:custGeom>
            <a:avLst/>
            <a:gdLst/>
            <a:ahLst/>
            <a:cxnLst/>
            <a:rect l="l" t="t" r="r" b="b"/>
            <a:pathLst>
              <a:path w="3893630" h="4114800">
                <a:moveTo>
                  <a:pt x="0" y="0"/>
                </a:moveTo>
                <a:lnTo>
                  <a:pt x="3893630" y="0"/>
                </a:lnTo>
                <a:lnTo>
                  <a:pt x="38936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602065" y="6155033"/>
            <a:ext cx="9285431" cy="789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</a:t>
            </a:r>
            <a:r>
              <a:rPr lang="en-US" sz="2303" b="1" i="1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BHAVANARI SHIVA SATWIK</a:t>
            </a:r>
          </a:p>
          <a:p>
            <a:pPr algn="ctr">
              <a:lnSpc>
                <a:spcPts val="3224"/>
              </a:lnSpc>
            </a:pPr>
            <a:r>
              <a:rPr lang="en-US" sz="2303" b="1" i="1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SATWIK.BHAVANARI@GMAIL.COM | </a:t>
            </a:r>
            <a:r>
              <a:rPr lang="en-US" sz="2303" b="1" i="1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  <a:hlinkClick r:id="rId7" tooltip="https://www.linkedin.com/in/satwikbhavanari/"/>
              </a:rPr>
              <a:t>LINKEDIN</a:t>
            </a:r>
            <a:r>
              <a:rPr lang="en-US" sz="23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03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| </a:t>
            </a:r>
            <a:r>
              <a:rPr lang="en-US" sz="2303" b="1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  <a:hlinkClick r:id="rId8" tooltip="https://bhavanarisatwik.netlify.app"/>
              </a:rPr>
              <a:t>PORTFOLIO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553" y="709179"/>
            <a:ext cx="157316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SISA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92135" y="709179"/>
            <a:ext cx="157296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A429A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INFOSEC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Microsoft Office PowerPoint</Application>
  <PresentationFormat>Custom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Inter Bold</vt:lpstr>
      <vt:lpstr>Calibri</vt:lpstr>
      <vt:lpstr>Cooper Hewitt Bold</vt:lpstr>
      <vt:lpstr>Inter Bold Italics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range</dc:title>
  <cp:lastModifiedBy>Satwik bhavanari</cp:lastModifiedBy>
  <cp:revision>2</cp:revision>
  <dcterms:created xsi:type="dcterms:W3CDTF">2006-08-16T00:00:00Z</dcterms:created>
  <dcterms:modified xsi:type="dcterms:W3CDTF">2025-05-16T08:36:43Z</dcterms:modified>
  <dc:identifier>DAGnl17voiE</dc:identifier>
</cp:coreProperties>
</file>