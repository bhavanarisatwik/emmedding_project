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ooper Hewitt Bold" charset="1" panose="00000000000000000000"/>
      <p:regular r:id="rId18"/>
    </p:embeddedFont>
    <p:embeddedFont>
      <p:font typeface="Inter" charset="1" panose="020B0502030000000004"/>
      <p:regular r:id="rId19"/>
    </p:embeddedFont>
    <p:embeddedFont>
      <p:font typeface="Inter Bold" charset="1" panose="020B0802030000000004"/>
      <p:regular r:id="rId20"/>
    </p:embeddedFont>
    <p:embeddedFont>
      <p:font typeface="Inter Bold Italics" charset="1" panose="020B080203000000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6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1.jpe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2" Target="../media/image8.jpeg" Type="http://schemas.openxmlformats.org/officeDocument/2006/relationships/image"/><Relationship Id="rId3" Target="../media/image25.jpeg" Type="http://schemas.openxmlformats.org/officeDocument/2006/relationships/image"/><Relationship Id="rId4" Target="../media/image26.jpe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https://www.linkedin.com/in/satwikbhavanari/" TargetMode="External" Type="http://schemas.openxmlformats.org/officeDocument/2006/relationships/hyperlink"/><Relationship Id="rId8" Target="https://bhavanarisatwik.netlify.ap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28525" y="6573455"/>
            <a:ext cx="3893630" cy="4114800"/>
          </a:xfrm>
          <a:custGeom>
            <a:avLst/>
            <a:gdLst/>
            <a:ahLst/>
            <a:cxnLst/>
            <a:rect r="r" b="b" t="t" l="l"/>
            <a:pathLst>
              <a:path h="4114800" w="389363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06175" y="244518"/>
            <a:ext cx="12557958" cy="11160885"/>
          </a:xfrm>
          <a:custGeom>
            <a:avLst/>
            <a:gdLst/>
            <a:ahLst/>
            <a:cxnLst/>
            <a:rect r="r" b="b" t="t" l="l"/>
            <a:pathLst>
              <a:path h="11160885" w="12557958">
                <a:moveTo>
                  <a:pt x="0" y="0"/>
                </a:moveTo>
                <a:lnTo>
                  <a:pt x="12557957" y="0"/>
                </a:lnTo>
                <a:lnTo>
                  <a:pt x="12557957" y="11160885"/>
                </a:lnTo>
                <a:lnTo>
                  <a:pt x="0" y="111608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5963" y="2387914"/>
            <a:ext cx="6492845" cy="6492845"/>
          </a:xfrm>
          <a:custGeom>
            <a:avLst/>
            <a:gdLst/>
            <a:ahLst/>
            <a:cxnLst/>
            <a:rect r="r" b="b" t="t" l="l"/>
            <a:pathLst>
              <a:path h="6492845" w="6492845">
                <a:moveTo>
                  <a:pt x="0" y="0"/>
                </a:moveTo>
                <a:lnTo>
                  <a:pt x="6492845" y="0"/>
                </a:lnTo>
                <a:lnTo>
                  <a:pt x="6492845" y="6492845"/>
                </a:lnTo>
                <a:lnTo>
                  <a:pt x="0" y="64928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92135" y="3124501"/>
            <a:ext cx="5914040" cy="223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6"/>
              </a:lnSpc>
            </a:pPr>
            <a:r>
              <a:rPr lang="en-US" sz="13033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CYBER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92135" y="4911126"/>
            <a:ext cx="8333828" cy="223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6"/>
              </a:lnSpc>
            </a:pPr>
            <a:r>
              <a:rPr lang="en-US" sz="13033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RANGE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2135" y="7327988"/>
            <a:ext cx="6907358" cy="36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2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STAY AHEAD OF THREATS, STAY SECURE.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31143" y="2684515"/>
            <a:ext cx="8365137" cy="5388317"/>
            <a:chOff x="0" y="0"/>
            <a:chExt cx="737305" cy="474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7305" cy="474927"/>
            </a:xfrm>
            <a:custGeom>
              <a:avLst/>
              <a:gdLst/>
              <a:ahLst/>
              <a:cxnLst/>
              <a:rect r="r" b="b" t="t" l="l"/>
              <a:pathLst>
                <a:path h="474927" w="737305">
                  <a:moveTo>
                    <a:pt x="534105" y="0"/>
                  </a:moveTo>
                  <a:lnTo>
                    <a:pt x="203200" y="0"/>
                  </a:lnTo>
                  <a:lnTo>
                    <a:pt x="0" y="237464"/>
                  </a:lnTo>
                  <a:lnTo>
                    <a:pt x="203200" y="474927"/>
                  </a:lnTo>
                  <a:lnTo>
                    <a:pt x="534105" y="474927"/>
                  </a:lnTo>
                  <a:lnTo>
                    <a:pt x="737305" y="237464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-47625"/>
              <a:ext cx="432505" cy="522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24781" y="2926447"/>
            <a:ext cx="8387448" cy="5388317"/>
            <a:chOff x="0" y="0"/>
            <a:chExt cx="730932" cy="4695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0932" cy="469570"/>
            </a:xfrm>
            <a:custGeom>
              <a:avLst/>
              <a:gdLst/>
              <a:ahLst/>
              <a:cxnLst/>
              <a:rect r="r" b="b" t="t" l="l"/>
              <a:pathLst>
                <a:path h="469570" w="730932">
                  <a:moveTo>
                    <a:pt x="527732" y="0"/>
                  </a:moveTo>
                  <a:lnTo>
                    <a:pt x="203200" y="0"/>
                  </a:lnTo>
                  <a:lnTo>
                    <a:pt x="0" y="234785"/>
                  </a:lnTo>
                  <a:lnTo>
                    <a:pt x="203200" y="469570"/>
                  </a:lnTo>
                  <a:lnTo>
                    <a:pt x="527732" y="469570"/>
                  </a:lnTo>
                  <a:lnTo>
                    <a:pt x="730932" y="234785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3"/>
              <a:stretch>
                <a:fillRect l="-14242" t="0" r="-1424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60774" y="8521940"/>
            <a:ext cx="2631660" cy="680027"/>
            <a:chOff x="0" y="0"/>
            <a:chExt cx="1572741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2741" cy="406400"/>
            </a:xfrm>
            <a:custGeom>
              <a:avLst/>
              <a:gdLst/>
              <a:ahLst/>
              <a:cxnLst/>
              <a:rect r="r" b="b" t="t" l="l"/>
              <a:pathLst>
                <a:path h="406400" w="1572741">
                  <a:moveTo>
                    <a:pt x="1369541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69541" y="406400"/>
                  </a:lnTo>
                  <a:lnTo>
                    <a:pt x="1572741" y="203200"/>
                  </a:lnTo>
                  <a:lnTo>
                    <a:pt x="1369541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2400" y="-47625"/>
              <a:ext cx="126794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60774" y="4616913"/>
            <a:ext cx="6548735" cy="3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2300" b="true">
                <a:solidFill>
                  <a:srgbClr val="F3B136"/>
                </a:solidFill>
                <a:latin typeface="Inter Bold"/>
                <a:ea typeface="Inter Bold"/>
                <a:cs typeface="Inter Bold"/>
                <a:sym typeface="Inter Bold"/>
              </a:rPr>
              <a:t>Cyber Range</a:t>
            </a: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is a controlled and secure virtual environment designed to replicate real-world cybersecurity scenarios, enabling advanced training, research, and development. Similar to how a shooting range is used to enhance marksmanship, a cyber range provides a safe, realistic setting for developing and refining cybersecurity skills and response strategies.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5302" y="8663533"/>
            <a:ext cx="2102604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LEARN MORE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28525" y="6573455"/>
            <a:ext cx="3893630" cy="4114800"/>
          </a:xfrm>
          <a:custGeom>
            <a:avLst/>
            <a:gdLst/>
            <a:ahLst/>
            <a:cxnLst/>
            <a:rect r="r" b="b" t="t" l="l"/>
            <a:pathLst>
              <a:path h="4114800" w="389363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60774" y="2312085"/>
            <a:ext cx="5973791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ABOUT CYBER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0774" y="3302050"/>
            <a:ext cx="4520727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RANGES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9867" y="6929184"/>
            <a:ext cx="2693471" cy="42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7"/>
              </a:lnSpc>
            </a:pPr>
            <a:r>
              <a:rPr lang="en-US" b="true" sz="2249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01   SAFETY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804137" y="3484755"/>
            <a:ext cx="4082579" cy="2806353"/>
            <a:chOff x="0" y="0"/>
            <a:chExt cx="737305" cy="5068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7305" cy="506821"/>
            </a:xfrm>
            <a:custGeom>
              <a:avLst/>
              <a:gdLst/>
              <a:ahLst/>
              <a:cxnLst/>
              <a:rect r="r" b="b" t="t" l="l"/>
              <a:pathLst>
                <a:path h="506821" w="737305">
                  <a:moveTo>
                    <a:pt x="534105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534105" y="506821"/>
                  </a:lnTo>
                  <a:lnTo>
                    <a:pt x="737305" y="253411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52400" y="-47625"/>
              <a:ext cx="432505" cy="554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49880" y="3484755"/>
            <a:ext cx="4082579" cy="2806353"/>
            <a:chOff x="0" y="0"/>
            <a:chExt cx="737305" cy="5068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7305" cy="506821"/>
            </a:xfrm>
            <a:custGeom>
              <a:avLst/>
              <a:gdLst/>
              <a:ahLst/>
              <a:cxnLst/>
              <a:rect r="r" b="b" t="t" l="l"/>
              <a:pathLst>
                <a:path h="506821" w="737305">
                  <a:moveTo>
                    <a:pt x="534105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534105" y="506821"/>
                  </a:lnTo>
                  <a:lnTo>
                    <a:pt x="737305" y="253411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52400" y="-47625"/>
              <a:ext cx="432505" cy="554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6952" y="3484755"/>
            <a:ext cx="4082579" cy="2806353"/>
            <a:chOff x="0" y="0"/>
            <a:chExt cx="737305" cy="5068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7305" cy="506821"/>
            </a:xfrm>
            <a:custGeom>
              <a:avLst/>
              <a:gdLst/>
              <a:ahLst/>
              <a:cxnLst/>
              <a:rect r="r" b="b" t="t" l="l"/>
              <a:pathLst>
                <a:path h="506821" w="737305">
                  <a:moveTo>
                    <a:pt x="534105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534105" y="506821"/>
                  </a:lnTo>
                  <a:lnTo>
                    <a:pt x="737305" y="253411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52400" y="-47625"/>
              <a:ext cx="432505" cy="554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98641" y="3610759"/>
            <a:ext cx="4093468" cy="2806353"/>
            <a:chOff x="0" y="0"/>
            <a:chExt cx="730932" cy="5011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0932" cy="501104"/>
            </a:xfrm>
            <a:custGeom>
              <a:avLst/>
              <a:gdLst/>
              <a:ahLst/>
              <a:cxnLst/>
              <a:rect r="r" b="b" t="t" l="l"/>
              <a:pathLst>
                <a:path h="501104" w="730932">
                  <a:moveTo>
                    <a:pt x="527732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527732" y="501104"/>
                  </a:lnTo>
                  <a:lnTo>
                    <a:pt x="730932" y="250552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3"/>
              <a:stretch>
                <a:fillRect l="-1417" t="0" r="-1417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044385" y="3610759"/>
            <a:ext cx="4093468" cy="2806353"/>
            <a:chOff x="0" y="0"/>
            <a:chExt cx="730932" cy="5011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0932" cy="501104"/>
            </a:xfrm>
            <a:custGeom>
              <a:avLst/>
              <a:gdLst/>
              <a:ahLst/>
              <a:cxnLst/>
              <a:rect r="r" b="b" t="t" l="l"/>
              <a:pathLst>
                <a:path h="501104" w="730932">
                  <a:moveTo>
                    <a:pt x="527732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527732" y="501104"/>
                  </a:lnTo>
                  <a:lnTo>
                    <a:pt x="730932" y="250552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4"/>
              <a:stretch>
                <a:fillRect l="-1546" t="0" r="-154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191456" y="3610759"/>
            <a:ext cx="4093468" cy="2806353"/>
            <a:chOff x="0" y="0"/>
            <a:chExt cx="730932" cy="5011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0932" cy="501104"/>
            </a:xfrm>
            <a:custGeom>
              <a:avLst/>
              <a:gdLst/>
              <a:ahLst/>
              <a:cxnLst/>
              <a:rect r="r" b="b" t="t" l="l"/>
              <a:pathLst>
                <a:path h="501104" w="730932">
                  <a:moveTo>
                    <a:pt x="527732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527732" y="501104"/>
                  </a:lnTo>
                  <a:lnTo>
                    <a:pt x="730932" y="250552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5"/>
              <a:stretch>
                <a:fillRect l="-1385" t="0" r="-1385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606750" y="7586275"/>
            <a:ext cx="2773627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 simulation of high-risk cyberattacks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28525" y="6573455"/>
            <a:ext cx="3893630" cy="4114800"/>
          </a:xfrm>
          <a:custGeom>
            <a:avLst/>
            <a:gdLst/>
            <a:ahLst/>
            <a:cxnLst/>
            <a:rect r="r" b="b" t="t" l="l"/>
            <a:pathLst>
              <a:path h="4114800" w="389363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196187" y="1313349"/>
            <a:ext cx="1969067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65254" y="1313349"/>
            <a:ext cx="6120680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CYBER RANGES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33745" y="6929184"/>
            <a:ext cx="2693471" cy="42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7"/>
              </a:lnSpc>
            </a:pPr>
            <a:r>
              <a:rPr lang="en-US" b="true" sz="2249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02  TRAIN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27935" y="6852508"/>
            <a:ext cx="2693471" cy="42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7"/>
              </a:lnSpc>
            </a:pPr>
            <a:r>
              <a:rPr lang="en-US" b="true" sz="2249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03  ENVIRONMENTS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80628" y="7586275"/>
            <a:ext cx="2773627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Realistic hands-on training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74819" y="7586275"/>
            <a:ext cx="277362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Scenario-based learning for SOC teams, penetration testers, and analysts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59038" y="5354288"/>
            <a:ext cx="3726409" cy="3634801"/>
          </a:xfrm>
          <a:custGeom>
            <a:avLst/>
            <a:gdLst/>
            <a:ahLst/>
            <a:cxnLst/>
            <a:rect r="r" b="b" t="t" l="l"/>
            <a:pathLst>
              <a:path h="3634801" w="3726409">
                <a:moveTo>
                  <a:pt x="0" y="0"/>
                </a:moveTo>
                <a:lnTo>
                  <a:pt x="3726409" y="0"/>
                </a:lnTo>
                <a:lnTo>
                  <a:pt x="3726409" y="3634801"/>
                </a:lnTo>
                <a:lnTo>
                  <a:pt x="0" y="36348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5553" y="6069086"/>
            <a:ext cx="4932770" cy="3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Technical Layers: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Virtual machines, routers, firewalls (virtualized)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Threat simulation tools (e.g., Metasploit, Cuckoo)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Real-time performance metrics and logs</a:t>
            </a:r>
          </a:p>
          <a:p>
            <a:pPr algn="l">
              <a:lnSpc>
                <a:spcPts val="322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618290" y="2365409"/>
            <a:ext cx="8173936" cy="3336111"/>
            <a:chOff x="0" y="0"/>
            <a:chExt cx="1241782" cy="5068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1782" cy="506821"/>
            </a:xfrm>
            <a:custGeom>
              <a:avLst/>
              <a:gdLst/>
              <a:ahLst/>
              <a:cxnLst/>
              <a:rect r="r" b="b" t="t" l="l"/>
              <a:pathLst>
                <a:path h="506821" w="1241782">
                  <a:moveTo>
                    <a:pt x="1038582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1038582" y="506821"/>
                  </a:lnTo>
                  <a:lnTo>
                    <a:pt x="1241782" y="253411"/>
                  </a:lnTo>
                  <a:lnTo>
                    <a:pt x="1038582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52400" y="-47625"/>
              <a:ext cx="936982" cy="554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07502" y="2515199"/>
            <a:ext cx="8195737" cy="3336111"/>
            <a:chOff x="0" y="0"/>
            <a:chExt cx="1231050" cy="5011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1050" cy="501104"/>
            </a:xfrm>
            <a:custGeom>
              <a:avLst/>
              <a:gdLst/>
              <a:ahLst/>
              <a:cxnLst/>
              <a:rect r="r" b="b" t="t" l="l"/>
              <a:pathLst>
                <a:path h="501104" w="1231050">
                  <a:moveTo>
                    <a:pt x="1027850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1027850" y="501104"/>
                  </a:lnTo>
                  <a:lnTo>
                    <a:pt x="1231050" y="250552"/>
                  </a:lnTo>
                  <a:lnTo>
                    <a:pt x="1027850" y="0"/>
                  </a:lnTo>
                  <a:close/>
                </a:path>
              </a:pathLst>
            </a:custGeom>
            <a:blipFill>
              <a:blip r:embed="rId5"/>
              <a:stretch>
                <a:fillRect l="0" t="-13779" r="0" b="-1253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28525" y="6573455"/>
            <a:ext cx="3893630" cy="4114800"/>
          </a:xfrm>
          <a:custGeom>
            <a:avLst/>
            <a:gdLst/>
            <a:ahLst/>
            <a:cxnLst/>
            <a:rect r="r" b="b" t="t" l="l"/>
            <a:pathLst>
              <a:path h="4114800" w="389363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651829" y="2369241"/>
            <a:ext cx="6388953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CYBER RANGES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51829" y="3359206"/>
            <a:ext cx="7301743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HOW THEY WORK?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59560" y="6069086"/>
            <a:ext cx="4943270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Types: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Static (predefined scenarios)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Dynamic (adaptive or AI-generated scenarios)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Cloud-based (hosted on cloud platforms for scalability)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Hybrid (combination of physical and virtual infrastructure)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60774" y="5143500"/>
            <a:ext cx="5470303" cy="3336111"/>
            <a:chOff x="0" y="0"/>
            <a:chExt cx="831047" cy="5068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1047" cy="506821"/>
            </a:xfrm>
            <a:custGeom>
              <a:avLst/>
              <a:gdLst/>
              <a:ahLst/>
              <a:cxnLst/>
              <a:rect r="r" b="b" t="t" l="l"/>
              <a:pathLst>
                <a:path h="506821" w="831047">
                  <a:moveTo>
                    <a:pt x="627847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627847" y="506821"/>
                  </a:lnTo>
                  <a:lnTo>
                    <a:pt x="831047" y="253411"/>
                  </a:lnTo>
                  <a:lnTo>
                    <a:pt x="627847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-47625"/>
              <a:ext cx="526247" cy="554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87401" y="5293290"/>
            <a:ext cx="5484894" cy="3336111"/>
            <a:chOff x="0" y="0"/>
            <a:chExt cx="823865" cy="501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865" cy="501104"/>
            </a:xfrm>
            <a:custGeom>
              <a:avLst/>
              <a:gdLst/>
              <a:ahLst/>
              <a:cxnLst/>
              <a:rect r="r" b="b" t="t" l="l"/>
              <a:pathLst>
                <a:path h="501104" w="823865">
                  <a:moveTo>
                    <a:pt x="620665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620665" y="501104"/>
                  </a:lnTo>
                  <a:lnTo>
                    <a:pt x="823865" y="250552"/>
                  </a:lnTo>
                  <a:lnTo>
                    <a:pt x="620665" y="0"/>
                  </a:lnTo>
                  <a:close/>
                </a:path>
              </a:pathLst>
            </a:custGeom>
            <a:blipFill>
              <a:blip r:embed="rId3"/>
              <a:stretch>
                <a:fillRect l="-10823" t="0" r="-10823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28525" y="6573455"/>
            <a:ext cx="3893630" cy="4114800"/>
          </a:xfrm>
          <a:custGeom>
            <a:avLst/>
            <a:gdLst/>
            <a:ahLst/>
            <a:cxnLst/>
            <a:rect r="r" b="b" t="t" l="l"/>
            <a:pathLst>
              <a:path h="4114800" w="389363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0774" y="2189005"/>
            <a:ext cx="5386730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LIMITATIONS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0774" y="3302795"/>
            <a:ext cx="5386730" cy="10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3000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OF TRADITIONAL CYBER RANGES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62063" y="2791968"/>
            <a:ext cx="5747748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Focuses only on Red or Blue teams not both limiting holistic, adversarial understanding.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62063" y="5095875"/>
            <a:ext cx="5747748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Learners receive delayed insights, reducing engagement and slowing skill development.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62063" y="1989208"/>
            <a:ext cx="4439018" cy="42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24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01  ONE-DIRECTIONAL TRAINING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62063" y="4324223"/>
            <a:ext cx="3894006" cy="42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24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02  NO REAL-TIME FEEDBACK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62063" y="6618605"/>
            <a:ext cx="5611495" cy="42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24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03  LACK OF TEAM COLLABORATION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62063" y="7417753"/>
            <a:ext cx="5747748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Minimal interaction between roles (Red, Blue, Purple), making it unrealistic for real-world SOC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16664" y="8918286"/>
            <a:ext cx="2631660" cy="680027"/>
            <a:chOff x="0" y="0"/>
            <a:chExt cx="157274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2741" cy="406400"/>
            </a:xfrm>
            <a:custGeom>
              <a:avLst/>
              <a:gdLst/>
              <a:ahLst/>
              <a:cxnLst/>
              <a:rect r="r" b="b" t="t" l="l"/>
              <a:pathLst>
                <a:path h="406400" w="1572741">
                  <a:moveTo>
                    <a:pt x="1369541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69541" y="406400"/>
                  </a:lnTo>
                  <a:lnTo>
                    <a:pt x="1572741" y="203200"/>
                  </a:lnTo>
                  <a:lnTo>
                    <a:pt x="1369541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-47625"/>
              <a:ext cx="126794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32013" y="2830264"/>
            <a:ext cx="6896954" cy="4865487"/>
          </a:xfrm>
          <a:custGeom>
            <a:avLst/>
            <a:gdLst/>
            <a:ahLst/>
            <a:cxnLst/>
            <a:rect r="r" b="b" t="t" l="l"/>
            <a:pathLst>
              <a:path h="4865487" w="6896954">
                <a:moveTo>
                  <a:pt x="0" y="0"/>
                </a:moveTo>
                <a:lnTo>
                  <a:pt x="6896954" y="0"/>
                </a:lnTo>
                <a:lnTo>
                  <a:pt x="6896954" y="4865487"/>
                </a:lnTo>
                <a:lnTo>
                  <a:pt x="0" y="48654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616664" y="2193413"/>
            <a:ext cx="6388953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16664" y="3194627"/>
            <a:ext cx="6388953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27199" y="4479867"/>
            <a:ext cx="5642251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C100"/>
                </a:solidFill>
                <a:latin typeface="Inter Bold"/>
                <a:ea typeface="Inter Bold"/>
                <a:cs typeface="Inter Bold"/>
                <a:sym typeface="Inter Bold"/>
              </a:rPr>
              <a:t>Cyber Ranges</a:t>
            </a: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are simulated training environments that empower cybersecurity teams to build real-world skills in a risk-free setting.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They help organizations strengthen their cyber defenses by providing hands-on experience in detecting, responding to, and recovering from sophisticated attacks.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28525" y="6573455"/>
            <a:ext cx="3893630" cy="4114800"/>
          </a:xfrm>
          <a:custGeom>
            <a:avLst/>
            <a:gdLst/>
            <a:ahLst/>
            <a:cxnLst/>
            <a:rect r="r" b="b" t="t" l="l"/>
            <a:pathLst>
              <a:path h="4114800" w="389363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8525" y="6573455"/>
            <a:ext cx="3893630" cy="4114800"/>
          </a:xfrm>
          <a:custGeom>
            <a:avLst/>
            <a:gdLst/>
            <a:ahLst/>
            <a:cxnLst/>
            <a:rect r="r" b="b" t="t" l="l"/>
            <a:pathLst>
              <a:path h="4114800" w="389363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04872" y="2522519"/>
            <a:ext cx="9828828" cy="266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43"/>
              </a:lnSpc>
            </a:pPr>
            <a:r>
              <a:rPr lang="en-US" sz="14207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PURPLE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04872" y="4591050"/>
            <a:ext cx="9828828" cy="266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43"/>
              </a:lnSpc>
            </a:pPr>
            <a:r>
              <a:rPr lang="en-US" sz="14207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RANGE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031143" y="2886609"/>
            <a:ext cx="4508296" cy="4373047"/>
          </a:xfrm>
          <a:custGeom>
            <a:avLst/>
            <a:gdLst/>
            <a:ahLst/>
            <a:cxnLst/>
            <a:rect r="r" b="b" t="t" l="l"/>
            <a:pathLst>
              <a:path h="4373047" w="4508296">
                <a:moveTo>
                  <a:pt x="0" y="0"/>
                </a:moveTo>
                <a:lnTo>
                  <a:pt x="4508296" y="0"/>
                </a:lnTo>
                <a:lnTo>
                  <a:pt x="4508296" y="4373047"/>
                </a:lnTo>
                <a:lnTo>
                  <a:pt x="0" y="43730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08146" y="3764780"/>
            <a:ext cx="2998204" cy="2008969"/>
            <a:chOff x="0" y="0"/>
            <a:chExt cx="756384" cy="5068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6384" cy="506821"/>
            </a:xfrm>
            <a:custGeom>
              <a:avLst/>
              <a:gdLst/>
              <a:ahLst/>
              <a:cxnLst/>
              <a:rect r="r" b="b" t="t" l="l"/>
              <a:pathLst>
                <a:path h="506821" w="756384">
                  <a:moveTo>
                    <a:pt x="553184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553184" y="506821"/>
                  </a:lnTo>
                  <a:lnTo>
                    <a:pt x="756384" y="253411"/>
                  </a:lnTo>
                  <a:lnTo>
                    <a:pt x="553184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-47625"/>
              <a:ext cx="451584" cy="554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84108" y="6573455"/>
            <a:ext cx="6245981" cy="2956295"/>
            <a:chOff x="0" y="0"/>
            <a:chExt cx="1070798" cy="5068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0798" cy="506821"/>
            </a:xfrm>
            <a:custGeom>
              <a:avLst/>
              <a:gdLst/>
              <a:ahLst/>
              <a:cxnLst/>
              <a:rect r="r" b="b" t="t" l="l"/>
              <a:pathLst>
                <a:path h="506821" w="1070798">
                  <a:moveTo>
                    <a:pt x="867598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867598" y="506821"/>
                  </a:lnTo>
                  <a:lnTo>
                    <a:pt x="1070798" y="253411"/>
                  </a:lnTo>
                  <a:lnTo>
                    <a:pt x="867598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52400" y="-47625"/>
              <a:ext cx="765998" cy="554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68773" y="334572"/>
            <a:ext cx="6084747" cy="2956295"/>
            <a:chOff x="0" y="0"/>
            <a:chExt cx="1043156" cy="5068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3156" cy="506821"/>
            </a:xfrm>
            <a:custGeom>
              <a:avLst/>
              <a:gdLst/>
              <a:ahLst/>
              <a:cxnLst/>
              <a:rect r="r" b="b" t="t" l="l"/>
              <a:pathLst>
                <a:path h="506821" w="1043156">
                  <a:moveTo>
                    <a:pt x="839956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839956" y="506821"/>
                  </a:lnTo>
                  <a:lnTo>
                    <a:pt x="1043156" y="253411"/>
                  </a:lnTo>
                  <a:lnTo>
                    <a:pt x="839956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52400" y="-47625"/>
              <a:ext cx="738356" cy="554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77549" y="3906706"/>
            <a:ext cx="2928801" cy="1957245"/>
            <a:chOff x="0" y="0"/>
            <a:chExt cx="749847" cy="5011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9847" cy="501104"/>
            </a:xfrm>
            <a:custGeom>
              <a:avLst/>
              <a:gdLst/>
              <a:ahLst/>
              <a:cxnLst/>
              <a:rect r="r" b="b" t="t" l="l"/>
              <a:pathLst>
                <a:path h="501104" w="749847">
                  <a:moveTo>
                    <a:pt x="546647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546647" y="501104"/>
                  </a:lnTo>
                  <a:lnTo>
                    <a:pt x="749847" y="250552"/>
                  </a:lnTo>
                  <a:lnTo>
                    <a:pt x="546647" y="0"/>
                  </a:lnTo>
                  <a:close/>
                </a:path>
              </a:pathLst>
            </a:custGeom>
            <a:blipFill>
              <a:blip r:embed="rId3"/>
              <a:stretch>
                <a:fillRect l="-120" t="0" r="-12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28691" y="6706191"/>
            <a:ext cx="6262640" cy="2956295"/>
            <a:chOff x="0" y="0"/>
            <a:chExt cx="1061543" cy="5011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1543" cy="501104"/>
            </a:xfrm>
            <a:custGeom>
              <a:avLst/>
              <a:gdLst/>
              <a:ahLst/>
              <a:cxnLst/>
              <a:rect r="r" b="b" t="t" l="l"/>
              <a:pathLst>
                <a:path h="501104" w="1061543">
                  <a:moveTo>
                    <a:pt x="858343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858343" y="501104"/>
                  </a:lnTo>
                  <a:lnTo>
                    <a:pt x="1061543" y="250552"/>
                  </a:lnTo>
                  <a:lnTo>
                    <a:pt x="858343" y="0"/>
                  </a:lnTo>
                  <a:close/>
                </a:path>
              </a:pathLst>
            </a:custGeom>
            <a:blipFill>
              <a:blip r:embed="rId4"/>
              <a:stretch>
                <a:fillRect l="0" t="-7594" r="0" b="-759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325787" y="334572"/>
            <a:ext cx="6100976" cy="2956295"/>
            <a:chOff x="0" y="0"/>
            <a:chExt cx="1034141" cy="5011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4141" cy="501104"/>
            </a:xfrm>
            <a:custGeom>
              <a:avLst/>
              <a:gdLst/>
              <a:ahLst/>
              <a:cxnLst/>
              <a:rect r="r" b="b" t="t" l="l"/>
              <a:pathLst>
                <a:path h="501104" w="1034141">
                  <a:moveTo>
                    <a:pt x="830941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830941" y="501104"/>
                  </a:lnTo>
                  <a:lnTo>
                    <a:pt x="1034141" y="250552"/>
                  </a:lnTo>
                  <a:lnTo>
                    <a:pt x="830941" y="0"/>
                  </a:lnTo>
                  <a:close/>
                </a:path>
              </a:pathLst>
            </a:custGeom>
            <a:blipFill>
              <a:blip r:embed="rId5"/>
              <a:stretch>
                <a:fillRect l="0" t="-18833" r="0" b="-18833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28525" y="6573455"/>
            <a:ext cx="3893630" cy="4114800"/>
          </a:xfrm>
          <a:custGeom>
            <a:avLst/>
            <a:gdLst/>
            <a:ahLst/>
            <a:cxnLst/>
            <a:rect r="r" b="b" t="t" l="l"/>
            <a:pathLst>
              <a:path h="4114800" w="389363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10169" y="4680842"/>
            <a:ext cx="5286352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2299" b="true">
                <a:solidFill>
                  <a:srgbClr val="FFC100"/>
                </a:solidFill>
                <a:latin typeface="Inter Bold"/>
                <a:ea typeface="Inter Bold"/>
                <a:cs typeface="Inter Bold"/>
                <a:sym typeface="Inter Bold"/>
              </a:rPr>
              <a:t>Purple Range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is an evolved cyber range that fosters real-time collaboration between Red (attack) and Blue (defense) teams to improve threat detection and response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 Idea: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“Learn by working together”  Attackers and defenders actively share insights..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8403" y="2312085"/>
            <a:ext cx="5973791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ABOUT PURPLE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8403" y="3302050"/>
            <a:ext cx="4520727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RANGES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047148" y="3073117"/>
            <a:ext cx="13509459" cy="5904994"/>
            <a:chOff x="0" y="0"/>
            <a:chExt cx="3558047" cy="15552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58047" cy="1555225"/>
            </a:xfrm>
            <a:custGeom>
              <a:avLst/>
              <a:gdLst/>
              <a:ahLst/>
              <a:cxnLst/>
              <a:rect r="r" b="b" t="t" l="l"/>
              <a:pathLst>
                <a:path h="1555225" w="3558047">
                  <a:moveTo>
                    <a:pt x="29227" y="0"/>
                  </a:moveTo>
                  <a:lnTo>
                    <a:pt x="3528820" y="0"/>
                  </a:lnTo>
                  <a:cubicBezTo>
                    <a:pt x="3536571" y="0"/>
                    <a:pt x="3544005" y="3079"/>
                    <a:pt x="3549486" y="8560"/>
                  </a:cubicBezTo>
                  <a:cubicBezTo>
                    <a:pt x="3554968" y="14041"/>
                    <a:pt x="3558047" y="21475"/>
                    <a:pt x="3558047" y="29227"/>
                  </a:cubicBezTo>
                  <a:lnTo>
                    <a:pt x="3558047" y="1525998"/>
                  </a:lnTo>
                  <a:cubicBezTo>
                    <a:pt x="3558047" y="1533750"/>
                    <a:pt x="3554968" y="1541183"/>
                    <a:pt x="3549486" y="1546665"/>
                  </a:cubicBezTo>
                  <a:cubicBezTo>
                    <a:pt x="3544005" y="1552146"/>
                    <a:pt x="3536571" y="1555225"/>
                    <a:pt x="3528820" y="1555225"/>
                  </a:cubicBezTo>
                  <a:lnTo>
                    <a:pt x="29227" y="1555225"/>
                  </a:lnTo>
                  <a:cubicBezTo>
                    <a:pt x="21475" y="1555225"/>
                    <a:pt x="14041" y="1552146"/>
                    <a:pt x="8560" y="1546665"/>
                  </a:cubicBezTo>
                  <a:cubicBezTo>
                    <a:pt x="3079" y="1541183"/>
                    <a:pt x="0" y="1533750"/>
                    <a:pt x="0" y="1525998"/>
                  </a:cubicBezTo>
                  <a:lnTo>
                    <a:pt x="0" y="29227"/>
                  </a:lnTo>
                  <a:cubicBezTo>
                    <a:pt x="0" y="21475"/>
                    <a:pt x="3079" y="14041"/>
                    <a:pt x="8560" y="8560"/>
                  </a:cubicBezTo>
                  <a:cubicBezTo>
                    <a:pt x="14041" y="3079"/>
                    <a:pt x="21475" y="0"/>
                    <a:pt x="29227" y="0"/>
                  </a:cubicBezTo>
                  <a:close/>
                </a:path>
              </a:pathLst>
            </a:custGeom>
            <a:solidFill>
              <a:srgbClr val="69196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558047" cy="1602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475179" y="4059041"/>
            <a:ext cx="12653397" cy="3693390"/>
          </a:xfrm>
          <a:custGeom>
            <a:avLst/>
            <a:gdLst/>
            <a:ahLst/>
            <a:cxnLst/>
            <a:rect r="r" b="b" t="t" l="l"/>
            <a:pathLst>
              <a:path h="3693390" w="12653397">
                <a:moveTo>
                  <a:pt x="0" y="0"/>
                </a:moveTo>
                <a:lnTo>
                  <a:pt x="12653397" y="0"/>
                </a:lnTo>
                <a:lnTo>
                  <a:pt x="12653397" y="3693390"/>
                </a:lnTo>
                <a:lnTo>
                  <a:pt x="0" y="3693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40" r="0" b="-125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91067" y="1378302"/>
            <a:ext cx="4479211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5"/>
              </a:lnSpc>
            </a:pPr>
            <a:r>
              <a:rPr lang="en-US" b="true" sz="650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TEAMS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46629" y="2674856"/>
            <a:ext cx="5085023" cy="3275465"/>
            <a:chOff x="0" y="0"/>
            <a:chExt cx="737305" cy="474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7305" cy="474927"/>
            </a:xfrm>
            <a:custGeom>
              <a:avLst/>
              <a:gdLst/>
              <a:ahLst/>
              <a:cxnLst/>
              <a:rect r="r" b="b" t="t" l="l"/>
              <a:pathLst>
                <a:path h="474927" w="737305">
                  <a:moveTo>
                    <a:pt x="534105" y="0"/>
                  </a:moveTo>
                  <a:lnTo>
                    <a:pt x="203200" y="0"/>
                  </a:lnTo>
                  <a:lnTo>
                    <a:pt x="0" y="237464"/>
                  </a:lnTo>
                  <a:lnTo>
                    <a:pt x="203200" y="474927"/>
                  </a:lnTo>
                  <a:lnTo>
                    <a:pt x="534105" y="474927"/>
                  </a:lnTo>
                  <a:lnTo>
                    <a:pt x="737305" y="237464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-47625"/>
              <a:ext cx="432505" cy="522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17669" y="5391070"/>
            <a:ext cx="4202208" cy="2706809"/>
            <a:chOff x="0" y="0"/>
            <a:chExt cx="737305" cy="4749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7305" cy="474927"/>
            </a:xfrm>
            <a:custGeom>
              <a:avLst/>
              <a:gdLst/>
              <a:ahLst/>
              <a:cxnLst/>
              <a:rect r="r" b="b" t="t" l="l"/>
              <a:pathLst>
                <a:path h="474927" w="737305">
                  <a:moveTo>
                    <a:pt x="534105" y="0"/>
                  </a:moveTo>
                  <a:lnTo>
                    <a:pt x="203200" y="0"/>
                  </a:lnTo>
                  <a:lnTo>
                    <a:pt x="0" y="237464"/>
                  </a:lnTo>
                  <a:lnTo>
                    <a:pt x="203200" y="474927"/>
                  </a:lnTo>
                  <a:lnTo>
                    <a:pt x="534105" y="474927"/>
                  </a:lnTo>
                  <a:lnTo>
                    <a:pt x="737305" y="237464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52400" y="-47625"/>
              <a:ext cx="432505" cy="522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964338" y="2821923"/>
            <a:ext cx="5098585" cy="3275465"/>
            <a:chOff x="0" y="0"/>
            <a:chExt cx="730932" cy="4695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0932" cy="469570"/>
            </a:xfrm>
            <a:custGeom>
              <a:avLst/>
              <a:gdLst/>
              <a:ahLst/>
              <a:cxnLst/>
              <a:rect r="r" b="b" t="t" l="l"/>
              <a:pathLst>
                <a:path h="469570" w="730932">
                  <a:moveTo>
                    <a:pt x="527732" y="0"/>
                  </a:moveTo>
                  <a:lnTo>
                    <a:pt x="203200" y="0"/>
                  </a:lnTo>
                  <a:lnTo>
                    <a:pt x="0" y="234785"/>
                  </a:lnTo>
                  <a:lnTo>
                    <a:pt x="203200" y="469570"/>
                  </a:lnTo>
                  <a:lnTo>
                    <a:pt x="527732" y="469570"/>
                  </a:lnTo>
                  <a:lnTo>
                    <a:pt x="730932" y="234785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3"/>
              <a:stretch>
                <a:fillRect l="0" t="-1886" r="0" b="-188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814942" y="5512605"/>
            <a:ext cx="4213416" cy="2706809"/>
            <a:chOff x="0" y="0"/>
            <a:chExt cx="730932" cy="4695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0932" cy="469570"/>
            </a:xfrm>
            <a:custGeom>
              <a:avLst/>
              <a:gdLst/>
              <a:ahLst/>
              <a:cxnLst/>
              <a:rect r="r" b="b" t="t" l="l"/>
              <a:pathLst>
                <a:path h="469570" w="730932">
                  <a:moveTo>
                    <a:pt x="527732" y="0"/>
                  </a:moveTo>
                  <a:lnTo>
                    <a:pt x="203200" y="0"/>
                  </a:lnTo>
                  <a:lnTo>
                    <a:pt x="0" y="234785"/>
                  </a:lnTo>
                  <a:lnTo>
                    <a:pt x="203200" y="469570"/>
                  </a:lnTo>
                  <a:lnTo>
                    <a:pt x="527732" y="469570"/>
                  </a:lnTo>
                  <a:lnTo>
                    <a:pt x="730932" y="234785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4"/>
              <a:stretch>
                <a:fillRect l="0" t="-8372" r="0" b="-8372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404872" y="5666721"/>
            <a:ext cx="3312796" cy="2717873"/>
          </a:xfrm>
          <a:custGeom>
            <a:avLst/>
            <a:gdLst/>
            <a:ahLst/>
            <a:cxnLst/>
            <a:rect r="r" b="b" t="t" l="l"/>
            <a:pathLst>
              <a:path h="2717873" w="3312796">
                <a:moveTo>
                  <a:pt x="0" y="0"/>
                </a:moveTo>
                <a:lnTo>
                  <a:pt x="3312797" y="0"/>
                </a:lnTo>
                <a:lnTo>
                  <a:pt x="3312797" y="2717874"/>
                </a:lnTo>
                <a:lnTo>
                  <a:pt x="0" y="2717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28525" y="6573455"/>
            <a:ext cx="3893630" cy="4114800"/>
          </a:xfrm>
          <a:custGeom>
            <a:avLst/>
            <a:gdLst/>
            <a:ahLst/>
            <a:cxnLst/>
            <a:rect r="r" b="b" t="t" l="l"/>
            <a:pathLst>
              <a:path h="4114800" w="389363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104558" y="2199309"/>
            <a:ext cx="6075961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255"/>
              </a:lnSpc>
            </a:pPr>
            <a:r>
              <a:rPr lang="en-US" b="true" sz="6500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BENEFITS  OF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4558" y="3189274"/>
            <a:ext cx="6075961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255"/>
              </a:lnSpc>
            </a:pPr>
            <a:r>
              <a:rPr lang="en-US" b="true" sz="650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PURPLE RANGE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28358" y="5191045"/>
            <a:ext cx="8177429" cy="385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876" indent="-277938" lvl="1">
              <a:lnSpc>
                <a:spcPts val="5149"/>
              </a:lnSpc>
              <a:buFont typeface="Arial"/>
              <a:buChar char="•"/>
            </a:pPr>
            <a:r>
              <a:rPr lang="en-US" sz="25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Bi-directional learning</a:t>
            </a:r>
          </a:p>
          <a:p>
            <a:pPr algn="l" marL="555876" indent="-277938" lvl="1">
              <a:lnSpc>
                <a:spcPts val="5149"/>
              </a:lnSpc>
              <a:buFont typeface="Arial"/>
              <a:buChar char="•"/>
            </a:pPr>
            <a:r>
              <a:rPr lang="en-US" sz="25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Faster security gap detection</a:t>
            </a:r>
          </a:p>
          <a:p>
            <a:pPr algn="l" marL="575796" indent="-287898" lvl="1">
              <a:lnSpc>
                <a:spcPts val="5333"/>
              </a:lnSpc>
              <a:buFont typeface="Arial"/>
              <a:buChar char="•"/>
            </a:pPr>
            <a:r>
              <a:rPr lang="en-US" sz="266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Improves both offensive and defensive skills</a:t>
            </a:r>
          </a:p>
          <a:p>
            <a:pPr algn="l" marL="555876" indent="-277938" lvl="1">
              <a:lnSpc>
                <a:spcPts val="5149"/>
              </a:lnSpc>
              <a:buFont typeface="Arial"/>
              <a:buChar char="•"/>
            </a:pPr>
            <a:r>
              <a:rPr lang="en-US" sz="25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Better communication between security teams</a:t>
            </a:r>
          </a:p>
          <a:p>
            <a:pPr algn="l" marL="555876" indent="-277938" lvl="1">
              <a:lnSpc>
                <a:spcPts val="5149"/>
              </a:lnSpc>
              <a:buFont typeface="Arial"/>
              <a:buChar char="•"/>
            </a:pPr>
            <a:r>
              <a:rPr lang="en-US" sz="25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Continuous improvement of security posture</a:t>
            </a:r>
          </a:p>
          <a:p>
            <a:pPr algn="l">
              <a:lnSpc>
                <a:spcPts val="514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8525" y="6573455"/>
            <a:ext cx="3893630" cy="4114800"/>
          </a:xfrm>
          <a:custGeom>
            <a:avLst/>
            <a:gdLst/>
            <a:ahLst/>
            <a:cxnLst/>
            <a:rect r="r" b="b" t="t" l="l"/>
            <a:pathLst>
              <a:path h="4114800" w="389363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29195" y="2886609"/>
            <a:ext cx="4319087" cy="4397882"/>
          </a:xfrm>
          <a:custGeom>
            <a:avLst/>
            <a:gdLst/>
            <a:ahLst/>
            <a:cxnLst/>
            <a:rect r="r" b="b" t="t" l="l"/>
            <a:pathLst>
              <a:path h="4397882" w="4319087">
                <a:moveTo>
                  <a:pt x="0" y="0"/>
                </a:moveTo>
                <a:lnTo>
                  <a:pt x="4319087" y="0"/>
                </a:lnTo>
                <a:lnTo>
                  <a:pt x="4319087" y="4397883"/>
                </a:lnTo>
                <a:lnTo>
                  <a:pt x="0" y="43978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5553" y="1946878"/>
            <a:ext cx="6388953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REAL-WORLD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5553" y="2948093"/>
            <a:ext cx="6388953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USE CASES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017008"/>
            <a:ext cx="11364559" cy="2922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9800" indent="-254900" lvl="1">
              <a:lnSpc>
                <a:spcPts val="4722"/>
              </a:lnSpc>
              <a:buFont typeface="Arial"/>
              <a:buChar char="•"/>
            </a:pPr>
            <a:r>
              <a:rPr lang="en-US" b="true" sz="2361">
                <a:solidFill>
                  <a:srgbClr val="FFC100"/>
                </a:solidFill>
                <a:latin typeface="Inter Bold"/>
                <a:ea typeface="Inter Bold"/>
                <a:cs typeface="Inter Bold"/>
                <a:sym typeface="Inter Bold"/>
              </a:rPr>
              <a:t>Banking Sector</a:t>
            </a:r>
            <a:r>
              <a:rPr lang="en-US" sz="23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Red team simulates phishing → Blue team detects + blocks → Purple team analyzes gaps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FFC100"/>
                </a:solidFill>
                <a:latin typeface="Inter Bold"/>
                <a:ea typeface="Inter Bold"/>
                <a:cs typeface="Inter Bold"/>
                <a:sym typeface="Inter Bold"/>
              </a:rPr>
              <a:t>Defense Training</a:t>
            </a: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Simulated breaches in military networks</a:t>
            </a:r>
          </a:p>
          <a:p>
            <a:pPr algn="l" marL="509800" indent="-254900" lvl="1">
              <a:lnSpc>
                <a:spcPts val="4722"/>
              </a:lnSpc>
              <a:buFont typeface="Arial"/>
              <a:buChar char="•"/>
            </a:pPr>
            <a:r>
              <a:rPr lang="en-US" b="true" sz="2361">
                <a:solidFill>
                  <a:srgbClr val="FFC100"/>
                </a:solidFill>
                <a:latin typeface="Inter Bold"/>
                <a:ea typeface="Inter Bold"/>
                <a:cs typeface="Inter Bold"/>
                <a:sym typeface="Inter Bold"/>
              </a:rPr>
              <a:t>Enterprise SOC Labs</a:t>
            </a:r>
            <a:r>
              <a:rPr lang="en-US" sz="23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Continuous learning platform</a:t>
            </a:r>
          </a:p>
          <a:p>
            <a:pPr algn="l">
              <a:lnSpc>
                <a:spcPts val="4722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02065" y="4031109"/>
            <a:ext cx="6619814" cy="223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6"/>
              </a:lnSpc>
            </a:pPr>
            <a:r>
              <a:rPr lang="en-US" sz="13033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72807" y="4031109"/>
            <a:ext cx="4721925" cy="223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6"/>
              </a:lnSpc>
            </a:pPr>
            <a:r>
              <a:rPr lang="en-US" sz="13033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426763" y="696025"/>
            <a:ext cx="2832537" cy="558246"/>
          </a:xfrm>
          <a:custGeom>
            <a:avLst/>
            <a:gdLst/>
            <a:ahLst/>
            <a:cxnLst/>
            <a:rect r="r" b="b" t="t" l="l"/>
            <a:pathLst>
              <a:path h="558246" w="2832537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28525" y="6573455"/>
            <a:ext cx="3893630" cy="4114800"/>
          </a:xfrm>
          <a:custGeom>
            <a:avLst/>
            <a:gdLst/>
            <a:ahLst/>
            <a:cxnLst/>
            <a:rect r="r" b="b" t="t" l="l"/>
            <a:pathLst>
              <a:path h="4114800" w="389363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02065" y="6155033"/>
            <a:ext cx="9285431" cy="789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</a:t>
            </a:r>
            <a:r>
              <a:rPr lang="en-US" b="true" sz="2303" i="true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BHAVANARI SHIVA SATWIK</a:t>
            </a:r>
          </a:p>
          <a:p>
            <a:pPr algn="ctr">
              <a:lnSpc>
                <a:spcPts val="3224"/>
              </a:lnSpc>
            </a:pPr>
            <a:r>
              <a:rPr lang="en-US" b="true" sz="2303" i="true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SATWIK.BHAVANARI@GMAIL.COM | </a:t>
            </a:r>
            <a:r>
              <a:rPr lang="en-US" b="true" sz="2303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  <a:hlinkClick r:id="rId7" tooltip="https://www.linkedin.com/in/satwikbhavanari/"/>
              </a:rPr>
              <a:t>LINKEDIN</a:t>
            </a:r>
            <a:r>
              <a:rPr lang="en-US" sz="23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30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| </a:t>
            </a:r>
            <a:r>
              <a:rPr lang="en-US" b="true" sz="2303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  <a:hlinkClick r:id="rId8" tooltip="https://bhavanarisatwik.netlify.app"/>
              </a:rPr>
              <a:t>PORTFOLIO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5553" y="709179"/>
            <a:ext cx="157316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92135" y="709179"/>
            <a:ext cx="157296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true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DAGnl17voiE</dc:identifier>
  <dcterms:modified xsi:type="dcterms:W3CDTF">2011-08-01T06:04:30Z</dcterms:modified>
  <cp:revision>1</cp:revision>
  <dc:title>range</dc:title>
</cp:coreProperties>
</file>