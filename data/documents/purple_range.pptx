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</p:sldIdLst>
  <p:sldSz cx="18288000" cy="10287000"/>
  <p:notesSz cx="6858000" cy="9144000"/>
  <p:embeddedFontLst>
    <p:embeddedFont>
      <p:font typeface="Cooper Hewitt Bold" panose="020B0604020202020204" charset="0"/>
      <p:regular r:id="rId8"/>
    </p:embeddedFon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Inter Bold Italic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jpeg"/><Relationship Id="rId7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jpe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5.svg"/><Relationship Id="rId4" Type="http://schemas.openxmlformats.org/officeDocument/2006/relationships/image" Target="../media/image13.jpe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havanarisatwik.netlify.app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linkedin.com/in/satwikbhavanari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04872" y="2522519"/>
            <a:ext cx="9828828" cy="266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43"/>
              </a:lnSpc>
            </a:pPr>
            <a:r>
              <a:rPr lang="en-US" sz="14207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PURPLE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4872" y="4591050"/>
            <a:ext cx="9828828" cy="266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43"/>
              </a:lnSpc>
            </a:pPr>
            <a:r>
              <a:rPr lang="en-US" sz="14207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</a:t>
            </a:r>
          </a:p>
        </p:txBody>
      </p:sp>
      <p:sp>
        <p:nvSpPr>
          <p:cNvPr id="7" name="Freeform 7"/>
          <p:cNvSpPr/>
          <p:nvPr/>
        </p:nvSpPr>
        <p:spPr>
          <a:xfrm>
            <a:off x="12031143" y="2886609"/>
            <a:ext cx="4508296" cy="4373047"/>
          </a:xfrm>
          <a:custGeom>
            <a:avLst/>
            <a:gdLst/>
            <a:ahLst/>
            <a:cxnLst/>
            <a:rect l="l" t="t" r="r" b="b"/>
            <a:pathLst>
              <a:path w="4508296" h="4373047">
                <a:moveTo>
                  <a:pt x="0" y="0"/>
                </a:moveTo>
                <a:lnTo>
                  <a:pt x="4508296" y="0"/>
                </a:lnTo>
                <a:lnTo>
                  <a:pt x="4508296" y="4373047"/>
                </a:lnTo>
                <a:lnTo>
                  <a:pt x="0" y="43730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8146" y="3764780"/>
            <a:ext cx="2998204" cy="2008969"/>
            <a:chOff x="0" y="0"/>
            <a:chExt cx="756384" cy="5068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6384" cy="506821"/>
            </a:xfrm>
            <a:custGeom>
              <a:avLst/>
              <a:gdLst/>
              <a:ahLst/>
              <a:cxnLst/>
              <a:rect l="l" t="t" r="r" b="b"/>
              <a:pathLst>
                <a:path w="756384" h="506821">
                  <a:moveTo>
                    <a:pt x="553184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53184" y="506821"/>
                  </a:lnTo>
                  <a:lnTo>
                    <a:pt x="756384" y="253411"/>
                  </a:lnTo>
                  <a:lnTo>
                    <a:pt x="553184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-47625"/>
              <a:ext cx="451584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84108" y="6573455"/>
            <a:ext cx="6245981" cy="2956295"/>
            <a:chOff x="0" y="0"/>
            <a:chExt cx="1070798" cy="5068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0798" cy="506821"/>
            </a:xfrm>
            <a:custGeom>
              <a:avLst/>
              <a:gdLst/>
              <a:ahLst/>
              <a:cxnLst/>
              <a:rect l="l" t="t" r="r" b="b"/>
              <a:pathLst>
                <a:path w="1070798" h="506821">
                  <a:moveTo>
                    <a:pt x="867598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867598" y="506821"/>
                  </a:lnTo>
                  <a:lnTo>
                    <a:pt x="1070798" y="253411"/>
                  </a:lnTo>
                  <a:lnTo>
                    <a:pt x="867598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52400" y="-47625"/>
              <a:ext cx="765998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68773" y="334572"/>
            <a:ext cx="6084747" cy="2956295"/>
            <a:chOff x="0" y="0"/>
            <a:chExt cx="1043156" cy="5068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156" cy="506821"/>
            </a:xfrm>
            <a:custGeom>
              <a:avLst/>
              <a:gdLst/>
              <a:ahLst/>
              <a:cxnLst/>
              <a:rect l="l" t="t" r="r" b="b"/>
              <a:pathLst>
                <a:path w="1043156" h="506821">
                  <a:moveTo>
                    <a:pt x="839956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839956" y="506821"/>
                  </a:lnTo>
                  <a:lnTo>
                    <a:pt x="1043156" y="253411"/>
                  </a:lnTo>
                  <a:lnTo>
                    <a:pt x="839956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738356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77549" y="3906706"/>
            <a:ext cx="2928801" cy="1957245"/>
            <a:chOff x="0" y="0"/>
            <a:chExt cx="749847" cy="5011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9847" cy="501104"/>
            </a:xfrm>
            <a:custGeom>
              <a:avLst/>
              <a:gdLst/>
              <a:ahLst/>
              <a:cxnLst/>
              <a:rect l="l" t="t" r="r" b="b"/>
              <a:pathLst>
                <a:path w="749847" h="501104">
                  <a:moveTo>
                    <a:pt x="546647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46647" y="501104"/>
                  </a:lnTo>
                  <a:lnTo>
                    <a:pt x="749847" y="250552"/>
                  </a:lnTo>
                  <a:lnTo>
                    <a:pt x="546647" y="0"/>
                  </a:lnTo>
                  <a:close/>
                </a:path>
              </a:pathLst>
            </a:custGeom>
            <a:blipFill>
              <a:blip r:embed="rId3"/>
              <a:stretch>
                <a:fillRect l="-120" r="-12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828691" y="6706191"/>
            <a:ext cx="6262640" cy="2956295"/>
            <a:chOff x="0" y="0"/>
            <a:chExt cx="1061543" cy="5011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1543" cy="501104"/>
            </a:xfrm>
            <a:custGeom>
              <a:avLst/>
              <a:gdLst/>
              <a:ahLst/>
              <a:cxnLst/>
              <a:rect l="l" t="t" r="r" b="b"/>
              <a:pathLst>
                <a:path w="1061543" h="501104">
                  <a:moveTo>
                    <a:pt x="858343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858343" y="501104"/>
                  </a:lnTo>
                  <a:lnTo>
                    <a:pt x="1061543" y="250552"/>
                  </a:lnTo>
                  <a:lnTo>
                    <a:pt x="858343" y="0"/>
                  </a:lnTo>
                  <a:close/>
                </a:path>
              </a:pathLst>
            </a:custGeom>
            <a:blipFill>
              <a:blip r:embed="rId4"/>
              <a:stretch>
                <a:fillRect t="-7594" b="-7594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8325787" y="334572"/>
            <a:ext cx="6100976" cy="2956295"/>
            <a:chOff x="0" y="0"/>
            <a:chExt cx="1034141" cy="5011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4141" cy="501104"/>
            </a:xfrm>
            <a:custGeom>
              <a:avLst/>
              <a:gdLst/>
              <a:ahLst/>
              <a:cxnLst/>
              <a:rect l="l" t="t" r="r" b="b"/>
              <a:pathLst>
                <a:path w="1034141" h="501104">
                  <a:moveTo>
                    <a:pt x="830941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830941" y="501104"/>
                  </a:lnTo>
                  <a:lnTo>
                    <a:pt x="1034141" y="250552"/>
                  </a:lnTo>
                  <a:lnTo>
                    <a:pt x="830941" y="0"/>
                  </a:lnTo>
                  <a:close/>
                </a:path>
              </a:pathLst>
            </a:custGeom>
            <a:blipFill>
              <a:blip r:embed="rId5"/>
              <a:stretch>
                <a:fillRect t="-18833" b="-1883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10169" y="4680842"/>
            <a:ext cx="5286352" cy="398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299" b="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Purple Range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an evolved cyber range that fosters real-time collaboration between Red (attack) and Blue (defense) teams to improve threat detection and response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Idea: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“Learn by working together”  Attackers and defenders actively share insights..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8403" y="2312085"/>
            <a:ext cx="5973791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ABOUT PURPLE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8403" y="3302050"/>
            <a:ext cx="4520727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047148" y="3073117"/>
            <a:ext cx="13509459" cy="5904994"/>
            <a:chOff x="0" y="0"/>
            <a:chExt cx="3558047" cy="15552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58047" cy="1555225"/>
            </a:xfrm>
            <a:custGeom>
              <a:avLst/>
              <a:gdLst/>
              <a:ahLst/>
              <a:cxnLst/>
              <a:rect l="l" t="t" r="r" b="b"/>
              <a:pathLst>
                <a:path w="3558047" h="1555225">
                  <a:moveTo>
                    <a:pt x="29227" y="0"/>
                  </a:moveTo>
                  <a:lnTo>
                    <a:pt x="3528820" y="0"/>
                  </a:lnTo>
                  <a:cubicBezTo>
                    <a:pt x="3536571" y="0"/>
                    <a:pt x="3544005" y="3079"/>
                    <a:pt x="3549486" y="8560"/>
                  </a:cubicBezTo>
                  <a:cubicBezTo>
                    <a:pt x="3554968" y="14041"/>
                    <a:pt x="3558047" y="21475"/>
                    <a:pt x="3558047" y="29227"/>
                  </a:cubicBezTo>
                  <a:lnTo>
                    <a:pt x="3558047" y="1525998"/>
                  </a:lnTo>
                  <a:cubicBezTo>
                    <a:pt x="3558047" y="1533750"/>
                    <a:pt x="3554968" y="1541183"/>
                    <a:pt x="3549486" y="1546665"/>
                  </a:cubicBezTo>
                  <a:cubicBezTo>
                    <a:pt x="3544005" y="1552146"/>
                    <a:pt x="3536571" y="1555225"/>
                    <a:pt x="3528820" y="1555225"/>
                  </a:cubicBezTo>
                  <a:lnTo>
                    <a:pt x="29227" y="1555225"/>
                  </a:lnTo>
                  <a:cubicBezTo>
                    <a:pt x="21475" y="1555225"/>
                    <a:pt x="14041" y="1552146"/>
                    <a:pt x="8560" y="1546665"/>
                  </a:cubicBezTo>
                  <a:cubicBezTo>
                    <a:pt x="3079" y="1541183"/>
                    <a:pt x="0" y="1533750"/>
                    <a:pt x="0" y="1525998"/>
                  </a:cubicBezTo>
                  <a:lnTo>
                    <a:pt x="0" y="29227"/>
                  </a:lnTo>
                  <a:cubicBezTo>
                    <a:pt x="0" y="21475"/>
                    <a:pt x="3079" y="14041"/>
                    <a:pt x="8560" y="8560"/>
                  </a:cubicBezTo>
                  <a:cubicBezTo>
                    <a:pt x="14041" y="3079"/>
                    <a:pt x="21475" y="0"/>
                    <a:pt x="29227" y="0"/>
                  </a:cubicBezTo>
                  <a:close/>
                </a:path>
              </a:pathLst>
            </a:custGeom>
            <a:solidFill>
              <a:srgbClr val="69196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558047" cy="1602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475179" y="4059041"/>
            <a:ext cx="12653397" cy="3693390"/>
          </a:xfrm>
          <a:custGeom>
            <a:avLst/>
            <a:gdLst/>
            <a:ahLst/>
            <a:cxnLst/>
            <a:rect l="l" t="t" r="r" b="b"/>
            <a:pathLst>
              <a:path w="12653397" h="3693390">
                <a:moveTo>
                  <a:pt x="0" y="0"/>
                </a:moveTo>
                <a:lnTo>
                  <a:pt x="12653397" y="0"/>
                </a:lnTo>
                <a:lnTo>
                  <a:pt x="12653397" y="3693390"/>
                </a:lnTo>
                <a:lnTo>
                  <a:pt x="0" y="3693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40" b="-125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91067" y="1378302"/>
            <a:ext cx="4479211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TEAMS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46629" y="2674856"/>
            <a:ext cx="5085023" cy="3275465"/>
            <a:chOff x="0" y="0"/>
            <a:chExt cx="737305" cy="474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7305" cy="474927"/>
            </a:xfrm>
            <a:custGeom>
              <a:avLst/>
              <a:gdLst/>
              <a:ahLst/>
              <a:cxnLst/>
              <a:rect l="l" t="t" r="r" b="b"/>
              <a:pathLst>
                <a:path w="737305" h="474927">
                  <a:moveTo>
                    <a:pt x="534105" y="0"/>
                  </a:moveTo>
                  <a:lnTo>
                    <a:pt x="203200" y="0"/>
                  </a:lnTo>
                  <a:lnTo>
                    <a:pt x="0" y="237464"/>
                  </a:lnTo>
                  <a:lnTo>
                    <a:pt x="203200" y="474927"/>
                  </a:lnTo>
                  <a:lnTo>
                    <a:pt x="534105" y="474927"/>
                  </a:lnTo>
                  <a:lnTo>
                    <a:pt x="737305" y="237464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-47625"/>
              <a:ext cx="432505" cy="522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7669" y="5391070"/>
            <a:ext cx="4202208" cy="2706809"/>
            <a:chOff x="0" y="0"/>
            <a:chExt cx="737305" cy="4749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7305" cy="474927"/>
            </a:xfrm>
            <a:custGeom>
              <a:avLst/>
              <a:gdLst/>
              <a:ahLst/>
              <a:cxnLst/>
              <a:rect l="l" t="t" r="r" b="b"/>
              <a:pathLst>
                <a:path w="737305" h="474927">
                  <a:moveTo>
                    <a:pt x="534105" y="0"/>
                  </a:moveTo>
                  <a:lnTo>
                    <a:pt x="203200" y="0"/>
                  </a:lnTo>
                  <a:lnTo>
                    <a:pt x="0" y="237464"/>
                  </a:lnTo>
                  <a:lnTo>
                    <a:pt x="203200" y="474927"/>
                  </a:lnTo>
                  <a:lnTo>
                    <a:pt x="534105" y="474927"/>
                  </a:lnTo>
                  <a:lnTo>
                    <a:pt x="737305" y="237464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52400" y="-47625"/>
              <a:ext cx="432505" cy="522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964338" y="2821923"/>
            <a:ext cx="5098585" cy="3275465"/>
            <a:chOff x="0" y="0"/>
            <a:chExt cx="730932" cy="4695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0932" cy="469570"/>
            </a:xfrm>
            <a:custGeom>
              <a:avLst/>
              <a:gdLst/>
              <a:ahLst/>
              <a:cxnLst/>
              <a:rect l="l" t="t" r="r" b="b"/>
              <a:pathLst>
                <a:path w="730932" h="469570">
                  <a:moveTo>
                    <a:pt x="527732" y="0"/>
                  </a:moveTo>
                  <a:lnTo>
                    <a:pt x="203200" y="0"/>
                  </a:lnTo>
                  <a:lnTo>
                    <a:pt x="0" y="234785"/>
                  </a:lnTo>
                  <a:lnTo>
                    <a:pt x="203200" y="469570"/>
                  </a:lnTo>
                  <a:lnTo>
                    <a:pt x="527732" y="469570"/>
                  </a:lnTo>
                  <a:lnTo>
                    <a:pt x="730932" y="234785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3"/>
              <a:stretch>
                <a:fillRect t="-1886" b="-188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814942" y="5512605"/>
            <a:ext cx="4213416" cy="2706809"/>
            <a:chOff x="0" y="0"/>
            <a:chExt cx="730932" cy="4695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0932" cy="469570"/>
            </a:xfrm>
            <a:custGeom>
              <a:avLst/>
              <a:gdLst/>
              <a:ahLst/>
              <a:cxnLst/>
              <a:rect l="l" t="t" r="r" b="b"/>
              <a:pathLst>
                <a:path w="730932" h="469570">
                  <a:moveTo>
                    <a:pt x="527732" y="0"/>
                  </a:moveTo>
                  <a:lnTo>
                    <a:pt x="203200" y="0"/>
                  </a:lnTo>
                  <a:lnTo>
                    <a:pt x="0" y="234785"/>
                  </a:lnTo>
                  <a:lnTo>
                    <a:pt x="203200" y="469570"/>
                  </a:lnTo>
                  <a:lnTo>
                    <a:pt x="527732" y="469570"/>
                  </a:lnTo>
                  <a:lnTo>
                    <a:pt x="730932" y="234785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4"/>
              <a:stretch>
                <a:fillRect t="-8372" b="-8372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2404872" y="5666721"/>
            <a:ext cx="3312796" cy="2717873"/>
          </a:xfrm>
          <a:custGeom>
            <a:avLst/>
            <a:gdLst/>
            <a:ahLst/>
            <a:cxnLst/>
            <a:rect l="l" t="t" r="r" b="b"/>
            <a:pathLst>
              <a:path w="3312796" h="2717873">
                <a:moveTo>
                  <a:pt x="0" y="0"/>
                </a:moveTo>
                <a:lnTo>
                  <a:pt x="3312797" y="0"/>
                </a:lnTo>
                <a:lnTo>
                  <a:pt x="3312797" y="2717874"/>
                </a:lnTo>
                <a:lnTo>
                  <a:pt x="0" y="271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104558" y="2199309"/>
            <a:ext cx="6075961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BENEFITS  OF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4558" y="3189274"/>
            <a:ext cx="6075961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PURPLE RANGE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28358" y="5191045"/>
            <a:ext cx="8177429" cy="3853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5876" lvl="1" indent="-277938" algn="l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Bi-directional learning</a:t>
            </a:r>
          </a:p>
          <a:p>
            <a:pPr marL="555876" lvl="1" indent="-277938" algn="l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 security gap detection</a:t>
            </a:r>
          </a:p>
          <a:p>
            <a:pPr marL="575796" lvl="1" indent="-287898" algn="l">
              <a:lnSpc>
                <a:spcPts val="53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Improves both offensive and defensive skills</a:t>
            </a:r>
          </a:p>
          <a:p>
            <a:pPr marL="555876" lvl="1" indent="-277938" algn="l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Better communication between security teams</a:t>
            </a:r>
          </a:p>
          <a:p>
            <a:pPr marL="555876" lvl="1" indent="-277938" algn="l">
              <a:lnSpc>
                <a:spcPts val="5149"/>
              </a:lnSpc>
              <a:buFont typeface="Arial"/>
              <a:buChar char="•"/>
            </a:pPr>
            <a:r>
              <a:rPr lang="en-US" sz="25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Continuous improvement of security posture</a:t>
            </a:r>
          </a:p>
          <a:p>
            <a:pPr algn="l">
              <a:lnSpc>
                <a:spcPts val="5149"/>
              </a:lnSpc>
            </a:pPr>
            <a:endParaRPr lang="en-US" sz="257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29195" y="2886609"/>
            <a:ext cx="4319087" cy="4397882"/>
          </a:xfrm>
          <a:custGeom>
            <a:avLst/>
            <a:gdLst/>
            <a:ahLst/>
            <a:cxnLst/>
            <a:rect l="l" t="t" r="r" b="b"/>
            <a:pathLst>
              <a:path w="4319087" h="4397882">
                <a:moveTo>
                  <a:pt x="0" y="0"/>
                </a:moveTo>
                <a:lnTo>
                  <a:pt x="4319087" y="0"/>
                </a:lnTo>
                <a:lnTo>
                  <a:pt x="4319087" y="4397883"/>
                </a:lnTo>
                <a:lnTo>
                  <a:pt x="0" y="43978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553" y="1946878"/>
            <a:ext cx="6388953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REAL-WORLD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553" y="2948093"/>
            <a:ext cx="6388953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USE CASES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017008"/>
            <a:ext cx="11364559" cy="292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800" lvl="1" indent="-254900" algn="l">
              <a:lnSpc>
                <a:spcPts val="4722"/>
              </a:lnSpc>
              <a:buFont typeface="Arial"/>
              <a:buChar char="•"/>
            </a:pPr>
            <a:r>
              <a:rPr lang="en-US" sz="2361" b="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Banking Sector</a:t>
            </a: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Red team simulates phishing → Blue team detects + blocks → Purple team analyzes gaps</a:t>
            </a:r>
          </a:p>
          <a:p>
            <a:pPr marL="518160" lvl="1" indent="-259080" algn="l">
              <a:lnSpc>
                <a:spcPts val="4800"/>
              </a:lnSpc>
              <a:buFont typeface="Arial"/>
              <a:buChar char="•"/>
            </a:pPr>
            <a:r>
              <a:rPr lang="en-US" sz="2400" b="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Defense Training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Simulated breaches in military networks</a:t>
            </a:r>
          </a:p>
          <a:p>
            <a:pPr marL="509800" lvl="1" indent="-254900" algn="l">
              <a:lnSpc>
                <a:spcPts val="4722"/>
              </a:lnSpc>
              <a:buFont typeface="Arial"/>
              <a:buChar char="•"/>
            </a:pPr>
            <a:r>
              <a:rPr lang="en-US" sz="2361" b="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Enterprise SOC Labs</a:t>
            </a: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Continuous learning platform</a:t>
            </a:r>
          </a:p>
          <a:p>
            <a:pPr algn="l">
              <a:lnSpc>
                <a:spcPts val="4722"/>
              </a:lnSpc>
            </a:pPr>
            <a:endParaRPr lang="en-US" sz="236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02065" y="4031109"/>
            <a:ext cx="6619814" cy="223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72807" y="4031109"/>
            <a:ext cx="4721925" cy="223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02065" y="6155033"/>
            <a:ext cx="9285431" cy="78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</a:t>
            </a:r>
            <a:r>
              <a:rPr lang="en-US" sz="2303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BHAVANARI SHIVA SATWIK</a:t>
            </a:r>
          </a:p>
          <a:p>
            <a:pPr algn="ctr">
              <a:lnSpc>
                <a:spcPts val="3224"/>
              </a:lnSpc>
            </a:pPr>
            <a:r>
              <a:rPr lang="en-US" sz="2303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SATWIK.BHAVANARI@GMAIL.COM | </a:t>
            </a:r>
            <a:r>
              <a:rPr lang="en-US" sz="2303" b="1" i="1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  <a:hlinkClick r:id="rId7" tooltip="https://www.linkedin.com/in/satwikbhavanari/"/>
              </a:rPr>
              <a:t>LINKEDIN</a:t>
            </a:r>
            <a:r>
              <a:rPr lang="en-US" sz="2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| </a:t>
            </a:r>
            <a:r>
              <a:rPr lang="en-US" sz="2303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  <a:hlinkClick r:id="rId8" tooltip="https://bhavanarisatwik.netlify.app"/>
              </a:rPr>
              <a:t>PORTFOLIO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Custom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Inter Bold</vt:lpstr>
      <vt:lpstr>Inter</vt:lpstr>
      <vt:lpstr>Cooper Hewitt Bold</vt:lpstr>
      <vt:lpstr>Inter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</dc:title>
  <cp:lastModifiedBy>Satwik bhavanari</cp:lastModifiedBy>
  <cp:revision>2</cp:revision>
  <dcterms:created xsi:type="dcterms:W3CDTF">2006-08-16T00:00:00Z</dcterms:created>
  <dcterms:modified xsi:type="dcterms:W3CDTF">2025-05-16T08:38:19Z</dcterms:modified>
  <dc:identifier>DAGnl17voiE</dc:identifier>
</cp:coreProperties>
</file>